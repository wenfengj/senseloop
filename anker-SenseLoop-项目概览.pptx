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594dc136234dc8" /><Relationship Type="http://schemas.openxmlformats.org/officeDocument/2006/relationships/extended-properties" Target="/docProps/app.xml" Id="Re64ac743c773445a" /><Relationship Type="http://schemas.openxmlformats.org/officeDocument/2006/relationships/officeDocument" Target="/ppt/presentation.xml" Id="R286003e16c694a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43a1160e314b84"/>
  </p:sldMasterIdLst>
  <p:notesMasterIdLst>
    <p:notesMasterId xmlns:r="http://schemas.openxmlformats.org/officeDocument/2006/relationships" r:id="R35415c8715bc48b6"/>
  </p:notesMasterIdLst>
  <p:sldIdLst>
    <p:sldId xmlns:r="http://schemas.openxmlformats.org/officeDocument/2006/relationships" id="256" r:id="R64b7ba59fca34b0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34c1ba6b7048af" /><Relationship Type="http://schemas.openxmlformats.org/officeDocument/2006/relationships/slideMaster" Target="/ppt/slideMasters/slideMaster1.xml" Id="R7943a1160e314b84" /><Relationship Type="http://schemas.openxmlformats.org/officeDocument/2006/relationships/notesMaster" Target="/ppt/notesMasters/notesMaster1.xml" Id="R35415c8715bc48b6" /><Relationship Type="http://schemas.openxmlformats.org/officeDocument/2006/relationships/presProps" Target="/ppt/presProps.xml" Id="Rf38dc7ef0e704ac6" /><Relationship Type="http://schemas.openxmlformats.org/officeDocument/2006/relationships/tableStyles" Target="/ppt/tableStyles.xml" Id="Rbeee832fc48d4732" /><Relationship Type="http://schemas.openxmlformats.org/officeDocument/2006/relationships/slide" Target="/ppt/slides/slide1.xml" Id="R64b7ba59fca34b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90db357d3a44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fdc54c5b634773" /><Relationship Type="http://schemas.openxmlformats.org/officeDocument/2006/relationships/notesMaster" Target="/ppt/notesMasters/notesMaster1.xml" Id="Ra179088fb76945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e15200f2a048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3a445e378d4106" /><Relationship Type="http://schemas.openxmlformats.org/officeDocument/2006/relationships/slideLayout" Target="/ppt/slideLayouts/slideLayout1.xml" Id="R55724e4feabb45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724e4feabb45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9e5d6c5d45468c" /><Relationship Type="http://schemas.openxmlformats.org/officeDocument/2006/relationships/notesSlide" Target="/ppt/notesSlides/notesSlide1.xml" Id="Ra01c235eaa8d47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03CA94D0-15FD-48C4-8918-DE3DE95B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761"/>
                </a:solidFill>
              </a:defRPr>
            </a:pPr>
            <a:r>
              <a:rPr sz="975" b="1">
                <a:solidFill>
                  <a:srgbClr val="5B6761"/>
                </a:solidFill>
              </a:rPr>
              <a:t>ANKER HACKATHON · HEALTH WEARABLE CONCEPT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DF8D489-87A8-413B-ABB5-6FB3D23B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581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anker-SenseLoop 观息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47310C60-F8A5-45B3-9D71-0C154B6F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049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6F59"/>
                </a:solidFill>
              </a:defRPr>
            </a:pPr>
            <a:r>
              <a:rPr sz="1500" b="1">
                <a:solidFill>
                  <a:srgbClr val="1F6F59"/>
                </a:solidFill>
              </a:rPr>
              <a:t>用夜间声音读懂身体信号的 AI 健康行动助手</a:t>
            </a:r>
          </a:p>
        </p:txBody>
      </p:sp>
      <p:sp>
        <p:nvSpPr>
          <p:cNvPr id="4" name="one-liner">
            <a:extLst xmlns:a="http://schemas.openxmlformats.org/drawingml/2006/main">
              <a:ext uri="{FF2B5EF4-FFF2-40B4-BE49-F238E27FC236}">
                <a16:creationId xmlns:a16="http://schemas.microsoft.com/office/drawing/2014/main" id="{12F79AF9-2A9C-4679-A700-0ED29653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6250"/>
            <a:ext cx="5029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基于夜间声音、睡眠、饮食、排便、舌苔、口气等多模态身体信号，早晨生成“今天怎么吃、怎么动、怎么恢复、哪些异常需要持续观察”的个性化行动建议。</a:t>
            </a:r>
          </a:p>
        </p:txBody>
      </p:sp>
      <p:sp>
        <p:nvSpPr>
          <p:cNvPr id="5" name="pain-panel">
            <a:extLst xmlns:a="http://schemas.openxmlformats.org/drawingml/2006/main">
              <a:ext uri="{FF2B5EF4-FFF2-40B4-BE49-F238E27FC236}">
                <a16:creationId xmlns:a16="http://schemas.microsoft.com/office/drawing/2014/main" id="{39693879-766A-43DB-A48F-25D51E09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81150"/>
            <a:ext cx="352425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9525">
            <a:solidFill>
              <a:srgbClr val="D8DED8"/>
            </a:solidFill>
            <a:prstDash val="solid"/>
          </a:ln>
        </p:spPr>
      </p:sp>
      <p:sp>
        <p:nvSpPr>
          <p:cNvPr id="6" name="label-核心痛点">
            <a:extLst xmlns:a="http://schemas.openxmlformats.org/drawingml/2006/main">
              <a:ext uri="{FF2B5EF4-FFF2-40B4-BE49-F238E27FC236}">
                <a16:creationId xmlns:a16="http://schemas.microsoft.com/office/drawing/2014/main" id="{4BA97841-A9AA-4F1D-81F2-620E940F4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F59"/>
                </a:solidFill>
              </a:defRPr>
            </a:pPr>
            <a:r>
              <a:rPr sz="1125" b="1">
                <a:solidFill>
                  <a:srgbClr val="1F6F59"/>
                </a:solidFill>
              </a:rPr>
              <a:t>核心痛点</a:t>
            </a:r>
          </a:p>
        </p:txBody>
      </p:sp>
      <p:sp>
        <p:nvSpPr>
          <p:cNvPr id="7" name="pain-1">
            <a:extLst xmlns:a="http://schemas.openxmlformats.org/drawingml/2006/main">
              <a:ext uri="{FF2B5EF4-FFF2-40B4-BE49-F238E27FC236}">
                <a16:creationId xmlns:a16="http://schemas.microsoft.com/office/drawing/2014/main" id="{387F7595-71B4-4B16-BE3E-6C88D67C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1 身体每天都在发信号，但用户看不懂</a:t>
            </a:r>
          </a:p>
        </p:txBody>
      </p:sp>
      <p:sp>
        <p:nvSpPr>
          <p:cNvPr id="8" name="pain-1-desc">
            <a:extLst xmlns:a="http://schemas.openxmlformats.org/drawingml/2006/main">
              <a:ext uri="{FF2B5EF4-FFF2-40B4-BE49-F238E27FC236}">
                <a16:creationId xmlns:a16="http://schemas.microsoft.com/office/drawing/2014/main" id="{09906816-1487-4412-8DCF-EA4232C9E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05075"/>
            <a:ext cx="3028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疲惫、打鼾咳嗽、口气、舌苔、排便和腹胀分散出现，用户很难判断它们之间的关系。</a:t>
            </a:r>
          </a:p>
        </p:txBody>
      </p:sp>
      <p:sp>
        <p:nvSpPr>
          <p:cNvPr id="9" name="pain-2">
            <a:extLst xmlns:a="http://schemas.openxmlformats.org/drawingml/2006/main">
              <a:ext uri="{FF2B5EF4-FFF2-40B4-BE49-F238E27FC236}">
                <a16:creationId xmlns:a16="http://schemas.microsoft.com/office/drawing/2014/main" id="{96769972-462B-4576-8E5E-07F761B4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2420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2 用户不缺健康数据，缺的是行动建议</a:t>
            </a:r>
          </a:p>
        </p:txBody>
      </p:sp>
      <p:sp>
        <p:nvSpPr>
          <p:cNvPr id="10" name="pain-2-desc">
            <a:extLst xmlns:a="http://schemas.openxmlformats.org/drawingml/2006/main">
              <a:ext uri="{FF2B5EF4-FFF2-40B4-BE49-F238E27FC236}">
                <a16:creationId xmlns:a16="http://schemas.microsoft.com/office/drawing/2014/main" id="{632880EF-C966-42A0-9EF4-E7795CA5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14725"/>
            <a:ext cx="302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用户真正关心的是今天能不能喝咖啡、该不该运动、该吃什么、没睡好怎么恢复。</a:t>
            </a:r>
          </a:p>
        </p:txBody>
      </p:sp>
      <p:sp>
        <p:nvSpPr>
          <p:cNvPr id="11" name="pain-3">
            <a:extLst xmlns:a="http://schemas.openxmlformats.org/drawingml/2006/main">
              <a:ext uri="{FF2B5EF4-FFF2-40B4-BE49-F238E27FC236}">
                <a16:creationId xmlns:a16="http://schemas.microsoft.com/office/drawing/2014/main" id="{A412642F-E33B-46DE-A37D-5EC53C12F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3 高频但私密的小问题没人持续观察</a:t>
            </a:r>
          </a:p>
        </p:txBody>
      </p:sp>
      <p:sp>
        <p:nvSpPr>
          <p:cNvPr id="12" name="demo-panel">
            <a:extLst xmlns:a="http://schemas.openxmlformats.org/drawingml/2006/main">
              <a:ext uri="{FF2B5EF4-FFF2-40B4-BE49-F238E27FC236}">
                <a16:creationId xmlns:a16="http://schemas.microsoft.com/office/drawing/2014/main" id="{26B45F28-ECBF-4BBE-8AC1-4B5E0ECD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581150"/>
            <a:ext cx="37338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8"/>
            </a:solidFill>
            <a:prstDash val="solid"/>
          </a:ln>
        </p:spPr>
      </p:sp>
      <p:sp>
        <p:nvSpPr>
          <p:cNvPr id="13" name="label-核心体验">
            <a:extLst xmlns:a="http://schemas.openxmlformats.org/drawingml/2006/main">
              <a:ext uri="{FF2B5EF4-FFF2-40B4-BE49-F238E27FC236}">
                <a16:creationId xmlns:a16="http://schemas.microsoft.com/office/drawing/2014/main" id="{380C1382-7F07-42A0-BAF1-9B6F5630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907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7895"/>
                </a:solidFill>
              </a:defRPr>
            </a:pPr>
            <a:r>
              <a:rPr sz="1125" b="1">
                <a:solidFill>
                  <a:srgbClr val="1D7895"/>
                </a:solidFill>
              </a:rPr>
              <a:t>核心体验</a:t>
            </a:r>
          </a:p>
        </p:txBody>
      </p:sp>
      <p:sp>
        <p:nvSpPr>
          <p:cNvPr id="14" name="demo-title">
            <a:extLst xmlns:a="http://schemas.openxmlformats.org/drawingml/2006/main">
              <a:ext uri="{FF2B5EF4-FFF2-40B4-BE49-F238E27FC236}">
                <a16:creationId xmlns:a16="http://schemas.microsoft.com/office/drawing/2014/main" id="{3F9A91ED-88EE-44FF-B528-B00B1E46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3105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夜间声音 -&gt; 身体信号理解 -&gt; 晨间行动建议</a:t>
            </a:r>
          </a:p>
        </p:txBody>
      </p:sp>
      <p:sp>
        <p:nvSpPr>
          <p:cNvPr id="15" name="flow-01">
            <a:extLst xmlns:a="http://schemas.openxmlformats.org/drawingml/2006/main">
              <a:ext uri="{FF2B5EF4-FFF2-40B4-BE49-F238E27FC236}">
                <a16:creationId xmlns:a16="http://schemas.microsoft.com/office/drawing/2014/main" id="{9EB7C27B-9C90-491D-B1F9-12FCD2AD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24150"/>
            <a:ext cx="781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59"/>
          </a:solidFill>
          <a:ln xmlns:a="http://schemas.openxmlformats.org/drawingml/2006/main" w="9525">
            <a:solidFill>
              <a:srgbClr val="1F6F59"/>
            </a:solidFill>
            <a:prstDash val="solid"/>
          </a:ln>
        </p:spPr>
      </p:sp>
      <p:sp>
        <p:nvSpPr>
          <p:cNvPr id="16" name="flow-num-01">
            <a:extLst xmlns:a="http://schemas.openxmlformats.org/drawingml/2006/main">
              <a:ext uri="{FF2B5EF4-FFF2-40B4-BE49-F238E27FC236}">
                <a16:creationId xmlns:a16="http://schemas.microsoft.com/office/drawing/2014/main" id="{39EB4F8A-3353-426C-8F38-EDF2655A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38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7" name="flow-title-01">
            <a:extLst xmlns:a="http://schemas.openxmlformats.org/drawingml/2006/main">
              <a:ext uri="{FF2B5EF4-FFF2-40B4-BE49-F238E27FC236}">
                <a16:creationId xmlns:a16="http://schemas.microsoft.com/office/drawing/2014/main" id="{8B78177E-C7BB-48DC-86DA-7E542E875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7657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画像</a:t>
            </a:r>
          </a:p>
        </p:txBody>
      </p:sp>
      <p:sp>
        <p:nvSpPr>
          <p:cNvPr id="18" name="flow-02">
            <a:extLst xmlns:a="http://schemas.openxmlformats.org/drawingml/2006/main">
              <a:ext uri="{FF2B5EF4-FFF2-40B4-BE49-F238E27FC236}">
                <a16:creationId xmlns:a16="http://schemas.microsoft.com/office/drawing/2014/main" id="{6D2C348E-B2AF-472F-B137-0487BF74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24150"/>
            <a:ext cx="781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895"/>
          </a:solidFill>
          <a:ln xmlns:a="http://schemas.openxmlformats.org/drawingml/2006/main" w="9525">
            <a:solidFill>
              <a:srgbClr val="1D7895"/>
            </a:solidFill>
            <a:prstDash val="solid"/>
          </a:ln>
        </p:spPr>
      </p:sp>
      <p:sp>
        <p:nvSpPr>
          <p:cNvPr id="19" name="flow-num-02">
            <a:extLst xmlns:a="http://schemas.openxmlformats.org/drawingml/2006/main">
              <a:ext uri="{FF2B5EF4-FFF2-40B4-BE49-F238E27FC236}">
                <a16:creationId xmlns:a16="http://schemas.microsoft.com/office/drawing/2014/main" id="{96C6758A-9E41-4352-9655-3429D962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38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0" name="flow-title-02">
            <a:extLst xmlns:a="http://schemas.openxmlformats.org/drawingml/2006/main">
              <a:ext uri="{FF2B5EF4-FFF2-40B4-BE49-F238E27FC236}">
                <a16:creationId xmlns:a16="http://schemas.microsoft.com/office/drawing/2014/main" id="{D793AC7A-F26F-4779-BE0E-E25E11BB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7657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声音</a:t>
            </a:r>
          </a:p>
        </p:txBody>
      </p:sp>
      <p:sp>
        <p:nvSpPr>
          <p:cNvPr id="21" name="flow-03">
            <a:extLst xmlns:a="http://schemas.openxmlformats.org/drawingml/2006/main">
              <a:ext uri="{FF2B5EF4-FFF2-40B4-BE49-F238E27FC236}">
                <a16:creationId xmlns:a16="http://schemas.microsoft.com/office/drawing/2014/main" id="{07D54793-E307-480F-B1C0-C1CBA928E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724150"/>
            <a:ext cx="781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22" name="flow-num-03">
            <a:extLst xmlns:a="http://schemas.openxmlformats.org/drawingml/2006/main">
              <a:ext uri="{FF2B5EF4-FFF2-40B4-BE49-F238E27FC236}">
                <a16:creationId xmlns:a16="http://schemas.microsoft.com/office/drawing/2014/main" id="{1026198F-5416-46FC-8958-8B8CC8CC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38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3" name="flow-title-03">
            <a:extLst xmlns:a="http://schemas.openxmlformats.org/drawingml/2006/main">
              <a:ext uri="{FF2B5EF4-FFF2-40B4-BE49-F238E27FC236}">
                <a16:creationId xmlns:a16="http://schemas.microsoft.com/office/drawing/2014/main" id="{FC247D0C-D53B-4549-A762-E4D48852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7657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知识</a:t>
            </a:r>
          </a:p>
        </p:txBody>
      </p:sp>
      <p:sp>
        <p:nvSpPr>
          <p:cNvPr id="24" name="flow-04">
            <a:extLst xmlns:a="http://schemas.openxmlformats.org/drawingml/2006/main">
              <a:ext uri="{FF2B5EF4-FFF2-40B4-BE49-F238E27FC236}">
                <a16:creationId xmlns:a16="http://schemas.microsoft.com/office/drawing/2014/main" id="{CA0CA35E-6355-48DB-AD5D-0CB35A36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24150"/>
            <a:ext cx="781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D53"/>
          </a:solidFill>
          <a:ln xmlns:a="http://schemas.openxmlformats.org/drawingml/2006/main" w="9525">
            <a:solidFill>
              <a:srgbClr val="A33D53"/>
            </a:solidFill>
            <a:prstDash val="solid"/>
          </a:ln>
        </p:spPr>
      </p:sp>
      <p:sp>
        <p:nvSpPr>
          <p:cNvPr id="25" name="flow-num-04">
            <a:extLst xmlns:a="http://schemas.openxmlformats.org/drawingml/2006/main">
              <a:ext uri="{FF2B5EF4-FFF2-40B4-BE49-F238E27FC236}">
                <a16:creationId xmlns:a16="http://schemas.microsoft.com/office/drawing/2014/main" id="{D5EDB6AD-8686-432A-87A6-B37973ED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838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6" name="flow-title-04">
            <a:extLst xmlns:a="http://schemas.openxmlformats.org/drawingml/2006/main">
              <a:ext uri="{FF2B5EF4-FFF2-40B4-BE49-F238E27FC236}">
                <a16:creationId xmlns:a16="http://schemas.microsoft.com/office/drawing/2014/main" id="{52B57E4D-4A82-41C2-BF46-9F9FEB46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07657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建议</a:t>
            </a:r>
          </a:p>
        </p:txBody>
      </p:sp>
      <p:sp>
        <p:nvSpPr>
          <p:cNvPr id="27" name="demo-bullets">
            <a:extLst xmlns:a="http://schemas.openxmlformats.org/drawingml/2006/main">
              <a:ext uri="{FF2B5EF4-FFF2-40B4-BE49-F238E27FC236}">
                <a16:creationId xmlns:a16="http://schemas.microsoft.com/office/drawing/2014/main" id="{7644BC2F-08F6-4718-8B28-BBB162F5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766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44444"/>
                </a:solidFill>
              </a:defRPr>
            </a:pPr>
            <a:r>
              <a:rPr sz="1200" b="0">
                <a:solidFill>
                  <a:srgbClr val="444444"/>
                </a:solidFill>
              </a:rPr>
              <a:t>原型能力：五类画像、夜间声音时间线、重点标记、饮食/排便/舌苔补充，以及因人而异的行动建议。</a:t>
            </a:r>
          </a:p>
        </p:txBody>
      </p:sp>
      <p:sp>
        <p:nvSpPr>
          <p:cNvPr id="28" name="hardware-panel">
            <a:extLst xmlns:a="http://schemas.openxmlformats.org/drawingml/2006/main">
              <a:ext uri="{FF2B5EF4-FFF2-40B4-BE49-F238E27FC236}">
                <a16:creationId xmlns:a16="http://schemas.microsoft.com/office/drawing/2014/main" id="{493461DC-9698-407A-A87B-7FA597EC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581150"/>
            <a:ext cx="363855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9525">
            <a:solidFill>
              <a:srgbClr val="D8DED8"/>
            </a:solidFill>
            <a:prstDash val="solid"/>
          </a:ln>
        </p:spPr>
      </p:sp>
      <p:sp>
        <p:nvSpPr>
          <p:cNvPr id="29" name="label-Anker 硬件">
            <a:extLst xmlns:a="http://schemas.openxmlformats.org/drawingml/2006/main">
              <a:ext uri="{FF2B5EF4-FFF2-40B4-BE49-F238E27FC236}">
                <a16:creationId xmlns:a16="http://schemas.microsoft.com/office/drawing/2014/main" id="{D696B460-8168-43A6-8CE0-96956511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7907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F59"/>
                </a:solidFill>
              </a:defRPr>
            </a:pPr>
            <a:r>
              <a:rPr sz="1125" b="1">
                <a:solidFill>
                  <a:srgbClr val="1F6F59"/>
                </a:solidFill>
              </a:rPr>
              <a:t>Anker 硬件</a:t>
            </a:r>
          </a:p>
        </p:txBody>
      </p:sp>
      <p:sp>
        <p:nvSpPr>
          <p:cNvPr id="30" name="hw-1">
            <a:extLst xmlns:a="http://schemas.openxmlformats.org/drawingml/2006/main">
              <a:ext uri="{FF2B5EF4-FFF2-40B4-BE49-F238E27FC236}">
                <a16:creationId xmlns:a16="http://schemas.microsoft.com/office/drawing/2014/main" id="{610CAC85-BE1B-420A-9D8A-E2093F81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soundcore Work 录音豆</a:t>
            </a:r>
          </a:p>
        </p:txBody>
      </p:sp>
      <p:sp>
        <p:nvSpPr>
          <p:cNvPr id="31" name="hw-1-desc">
            <a:extLst xmlns:a="http://schemas.openxmlformats.org/drawingml/2006/main">
              <a:ext uri="{FF2B5EF4-FFF2-40B4-BE49-F238E27FC236}">
                <a16:creationId xmlns:a16="http://schemas.microsoft.com/office/drawing/2014/main" id="{D1213F5C-EA84-4EB0-B893-334C1FDD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81250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承担“闻”的角色，采集夜间声音、重点标记和状态信息。</a:t>
            </a:r>
          </a:p>
        </p:txBody>
      </p:sp>
      <p:sp>
        <p:nvSpPr>
          <p:cNvPr id="32" name="hw-2">
            <a:extLst xmlns:a="http://schemas.openxmlformats.org/drawingml/2006/main">
              <a:ext uri="{FF2B5EF4-FFF2-40B4-BE49-F238E27FC236}">
                <a16:creationId xmlns:a16="http://schemas.microsoft.com/office/drawing/2014/main" id="{37D77EED-A2ED-4B4E-B386-60386CBB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95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Anker eufy 摄像头</a:t>
            </a:r>
          </a:p>
        </p:txBody>
      </p:sp>
      <p:sp>
        <p:nvSpPr>
          <p:cNvPr id="33" name="hw-2-desc">
            <a:extLst xmlns:a="http://schemas.openxmlformats.org/drawingml/2006/main">
              <a:ext uri="{FF2B5EF4-FFF2-40B4-BE49-F238E27FC236}">
                <a16:creationId xmlns:a16="http://schemas.microsoft.com/office/drawing/2014/main" id="{15DBEDE8-D0C5-4FB1-BA7E-83756C7E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62300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用于饮食、老人活动等非隐私视觉观察，不用于敏感拍摄。</a:t>
            </a:r>
          </a:p>
        </p:txBody>
      </p:sp>
      <p:sp>
        <p:nvSpPr>
          <p:cNvPr id="34" name="innovation">
            <a:extLst xmlns:a="http://schemas.openxmlformats.org/drawingml/2006/main">
              <a:ext uri="{FF2B5EF4-FFF2-40B4-BE49-F238E27FC236}">
                <a16:creationId xmlns:a16="http://schemas.microsoft.com/office/drawing/2014/main" id="{0228B866-DEE9-44B6-B165-24003C66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90950"/>
            <a:ext cx="3028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F59"/>
                </a:solidFill>
              </a:defRPr>
            </a:pPr>
            <a:r>
              <a:rPr sz="1275" b="1">
                <a:solidFill>
                  <a:srgbClr val="1F6F59"/>
                </a:solidFill>
              </a:rPr>
              <a:t>创新：不是睡眠报告，而是晨间行动建议；不是记录声音，而是理解身体信号。</a:t>
            </a:r>
          </a:p>
        </p:txBody>
      </p:sp>
      <p:sp>
        <p:nvSpPr>
          <p:cNvPr id="35" name="route-panel">
            <a:extLst xmlns:a="http://schemas.openxmlformats.org/drawingml/2006/main">
              <a:ext uri="{FF2B5EF4-FFF2-40B4-BE49-F238E27FC236}">
                <a16:creationId xmlns:a16="http://schemas.microsoft.com/office/drawing/2014/main" id="{C777678E-1B7F-4385-94F8-543BC5D9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00600"/>
            <a:ext cx="113538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8"/>
            </a:solidFill>
            <a:prstDash val="solid"/>
          </a:ln>
        </p:spPr>
      </p:sp>
      <p:sp>
        <p:nvSpPr>
          <p:cNvPr id="36" name="label-技术路线与产品化价值">
            <a:extLst xmlns:a="http://schemas.openxmlformats.org/drawingml/2006/main">
              <a:ext uri="{FF2B5EF4-FFF2-40B4-BE49-F238E27FC236}">
                <a16:creationId xmlns:a16="http://schemas.microsoft.com/office/drawing/2014/main" id="{301EC315-9EF5-45E9-8076-16213287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101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技术路线与产品化价值</a:t>
            </a:r>
          </a:p>
        </p:txBody>
      </p:sp>
      <p:sp>
        <p:nvSpPr>
          <p:cNvPr id="37" name="route-head-采集">
            <a:extLst xmlns:a="http://schemas.openxmlformats.org/drawingml/2006/main">
              <a:ext uri="{FF2B5EF4-FFF2-40B4-BE49-F238E27FC236}">
                <a16:creationId xmlns:a16="http://schemas.microsoft.com/office/drawing/2014/main" id="{F5687C8E-7E67-4160-ADE2-7F42D143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53050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F59"/>
                </a:solidFill>
              </a:defRPr>
            </a:pPr>
            <a:r>
              <a:rPr sz="1275" b="1">
                <a:solidFill>
                  <a:srgbClr val="1F6F59"/>
                </a:solidFill>
              </a:rPr>
              <a:t>采集</a:t>
            </a:r>
          </a:p>
        </p:txBody>
      </p:sp>
      <p:sp>
        <p:nvSpPr>
          <p:cNvPr id="38" name="route-body-采集">
            <a:extLst xmlns:a="http://schemas.openxmlformats.org/drawingml/2006/main">
              <a:ext uri="{FF2B5EF4-FFF2-40B4-BE49-F238E27FC236}">
                <a16:creationId xmlns:a16="http://schemas.microsoft.com/office/drawing/2014/main" id="{00C13F9A-D67B-43CE-B231-106CB10F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975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Work / eufy / App / 拍照</a:t>
            </a:r>
          </a:p>
        </p:txBody>
      </p:sp>
      <p:sp>
        <p:nvSpPr>
          <p:cNvPr id="39" name="route-head-识别">
            <a:extLst xmlns:a="http://schemas.openxmlformats.org/drawingml/2006/main">
              <a:ext uri="{FF2B5EF4-FFF2-40B4-BE49-F238E27FC236}">
                <a16:creationId xmlns:a16="http://schemas.microsoft.com/office/drawing/2014/main" id="{72732AA0-16CE-4E26-91B1-8D2FC946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353050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F59"/>
                </a:solidFill>
              </a:defRPr>
            </a:pPr>
            <a:r>
              <a:rPr sz="1275" b="1">
                <a:solidFill>
                  <a:srgbClr val="1F6F59"/>
                </a:solidFill>
              </a:rPr>
              <a:t>识别</a:t>
            </a:r>
          </a:p>
        </p:txBody>
      </p:sp>
      <p:sp>
        <p:nvSpPr>
          <p:cNvPr id="40" name="route-body-识别">
            <a:extLst xmlns:a="http://schemas.openxmlformats.org/drawingml/2006/main">
              <a:ext uri="{FF2B5EF4-FFF2-40B4-BE49-F238E27FC236}">
                <a16:creationId xmlns:a16="http://schemas.microsoft.com/office/drawing/2014/main" id="{592BEFBF-D938-4832-9EBA-141EBB70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61975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声音事件 / 饮食 / 舌苔 / 排便标签</a:t>
            </a:r>
          </a:p>
        </p:txBody>
      </p:sp>
      <p:sp>
        <p:nvSpPr>
          <p:cNvPr id="41" name="route-head-画像">
            <a:extLst xmlns:a="http://schemas.openxmlformats.org/drawingml/2006/main">
              <a:ext uri="{FF2B5EF4-FFF2-40B4-BE49-F238E27FC236}">
                <a16:creationId xmlns:a16="http://schemas.microsoft.com/office/drawing/2014/main" id="{CD2866B0-BEA4-4935-B248-375F9888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353050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F59"/>
                </a:solidFill>
              </a:defRPr>
            </a:pPr>
            <a:r>
              <a:rPr sz="1275" b="1">
                <a:solidFill>
                  <a:srgbClr val="1F6F59"/>
                </a:solidFill>
              </a:rPr>
              <a:t>画像</a:t>
            </a:r>
          </a:p>
        </p:txBody>
      </p:sp>
      <p:sp>
        <p:nvSpPr>
          <p:cNvPr id="42" name="route-body-画像">
            <a:extLst xmlns:a="http://schemas.openxmlformats.org/drawingml/2006/main">
              <a:ext uri="{FF2B5EF4-FFF2-40B4-BE49-F238E27FC236}">
                <a16:creationId xmlns:a16="http://schemas.microsoft.com/office/drawing/2014/main" id="{DDD11647-DB46-4871-A8CE-B004832A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61975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上班族 / 老人 / 失眠 / 减脂 / 学生</a:t>
            </a:r>
          </a:p>
        </p:txBody>
      </p:sp>
      <p:sp>
        <p:nvSpPr>
          <p:cNvPr id="43" name="route-head-知识库">
            <a:extLst xmlns:a="http://schemas.openxmlformats.org/drawingml/2006/main">
              <a:ext uri="{FF2B5EF4-FFF2-40B4-BE49-F238E27FC236}">
                <a16:creationId xmlns:a16="http://schemas.microsoft.com/office/drawing/2014/main" id="{60C871FD-BCFF-453B-8A0A-BD4F0E12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353050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F59"/>
                </a:solidFill>
              </a:defRPr>
            </a:pPr>
            <a:r>
              <a:rPr sz="1275" b="1">
                <a:solidFill>
                  <a:srgbClr val="1F6F59"/>
                </a:solidFill>
              </a:rPr>
              <a:t>知识库</a:t>
            </a:r>
          </a:p>
        </p:txBody>
      </p:sp>
      <p:sp>
        <p:nvSpPr>
          <p:cNvPr id="44" name="route-body-知识库">
            <a:extLst xmlns:a="http://schemas.openxmlformats.org/drawingml/2006/main">
              <a:ext uri="{FF2B5EF4-FFF2-40B4-BE49-F238E27FC236}">
                <a16:creationId xmlns:a16="http://schemas.microsoft.com/office/drawing/2014/main" id="{42A172F6-6A5E-4355-AA35-A72586C8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61975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睡眠 / 饮食 / 排便 / 运动恢复</a:t>
            </a:r>
          </a:p>
        </p:txBody>
      </p:sp>
      <p:sp>
        <p:nvSpPr>
          <p:cNvPr id="45" name="route-head-建议">
            <a:extLst xmlns:a="http://schemas.openxmlformats.org/drawingml/2006/main">
              <a:ext uri="{FF2B5EF4-FFF2-40B4-BE49-F238E27FC236}">
                <a16:creationId xmlns:a16="http://schemas.microsoft.com/office/drawing/2014/main" id="{ABF895AB-8866-445F-8D51-BEA9CDE8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353050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F59"/>
                </a:solidFill>
              </a:defRPr>
            </a:pPr>
            <a:r>
              <a:rPr sz="1275" b="1">
                <a:solidFill>
                  <a:srgbClr val="1F6F59"/>
                </a:solidFill>
              </a:rPr>
              <a:t>建议</a:t>
            </a:r>
          </a:p>
        </p:txBody>
      </p:sp>
      <p:sp>
        <p:nvSpPr>
          <p:cNvPr id="46" name="route-body-建议">
            <a:extLst xmlns:a="http://schemas.openxmlformats.org/drawingml/2006/main">
              <a:ext uri="{FF2B5EF4-FFF2-40B4-BE49-F238E27FC236}">
                <a16:creationId xmlns:a16="http://schemas.microsoft.com/office/drawing/2014/main" id="{2B44E080-071A-46FC-872B-2FB2C29A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61975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吃什么 / 怎么动 / 怎么恢复 / 异常观察</a:t>
            </a:r>
          </a:p>
        </p:txBody>
      </p:sp>
      <p:sp>
        <p:nvSpPr>
          <p:cNvPr id="47" name="route-head-演进">
            <a:extLst xmlns:a="http://schemas.openxmlformats.org/drawingml/2006/main">
              <a:ext uri="{FF2B5EF4-FFF2-40B4-BE49-F238E27FC236}">
                <a16:creationId xmlns:a16="http://schemas.microsoft.com/office/drawing/2014/main" id="{41CE2EE5-9DA4-45E0-BA01-64EC19B7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353050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F59"/>
                </a:solidFill>
              </a:defRPr>
            </a:pPr>
            <a:r>
              <a:rPr sz="1275" b="1">
                <a:solidFill>
                  <a:srgbClr val="1F6F59"/>
                </a:solidFill>
              </a:rPr>
              <a:t>演进</a:t>
            </a:r>
          </a:p>
        </p:txBody>
      </p:sp>
      <p:sp>
        <p:nvSpPr>
          <p:cNvPr id="48" name="route-body-演进">
            <a:extLst xmlns:a="http://schemas.openxmlformats.org/drawingml/2006/main">
              <a:ext uri="{FF2B5EF4-FFF2-40B4-BE49-F238E27FC236}">
                <a16:creationId xmlns:a16="http://schemas.microsoft.com/office/drawing/2014/main" id="{6525894F-34FA-4365-BDA8-5A57864F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61975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SenseLoop Watch / Band / Pendant</a:t>
            </a:r>
          </a:p>
        </p:txBody>
      </p:sp>
      <p:sp>
        <p:nvSpPr>
          <p:cNvPr id="49" name="boundary">
            <a:extLst xmlns:a="http://schemas.openxmlformats.org/drawingml/2006/main">
              <a:ext uri="{FF2B5EF4-FFF2-40B4-BE49-F238E27FC236}">
                <a16:creationId xmlns:a16="http://schemas.microsoft.com/office/drawing/2014/main" id="{FC896EB2-5F8B-463F-A213-028A6543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3055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6666"/>
                </a:solidFill>
              </a:defRPr>
            </a:pPr>
            <a:r>
              <a:rPr sz="975" b="0">
                <a:solidFill>
                  <a:srgbClr val="666666"/>
                </a:solidFill>
              </a:rPr>
              <a:t>边界：不做医疗诊断，不承诺治疗疾病，不自动拍摄隐私内容；敏感数据优先手动触发，异常提醒仅作为健康趋势提示。</a:t>
            </a:r>
          </a:p>
        </p:txBody>
      </p:sp>
      <p:sp>
        <p:nvSpPr>
          <p:cNvPr id="50" name="footer">
            <a:extLst xmlns:a="http://schemas.openxmlformats.org/drawingml/2006/main">
              <a:ext uri="{FF2B5EF4-FFF2-40B4-BE49-F238E27FC236}">
                <a16:creationId xmlns:a16="http://schemas.microsoft.com/office/drawing/2014/main" id="{41ACC9CF-B0A4-49A1-B22D-0BD2C3611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88888"/>
                </a:solidFill>
              </a:defRPr>
            </a:pPr>
            <a:r>
              <a:rPr sz="975" b="0">
                <a:solidFill>
                  <a:srgbClr val="888888"/>
                </a:solidFill>
              </a:rPr>
              <a:t>One-page concept</a:t>
            </a:r>
          </a:p>
        </p:txBody>
      </p:sp>
    </p:spTree>
    <p:extLst>
      <p:ext uri="{BB962C8B-B14F-4D97-AF65-F5344CB8AC3E}">
        <p14:creationId xmlns:p14="http://schemas.microsoft.com/office/powerpoint/2010/main" val="3879699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2026-09-16T23:52:31.6910000Z</dcterms:created>
  <dcterms:modified xsi:type="dcterms:W3CDTF">2026-09-16T23:52:31.6910000Z</dcterms:modified>
</coreProperties>
</file>