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8718c74e05404e" /><Relationship Type="http://schemas.openxmlformats.org/officeDocument/2006/relationships/extended-properties" Target="/docProps/app.xml" Id="Rbad439f3a1eb4d44" /><Relationship Type="http://schemas.openxmlformats.org/officeDocument/2006/relationships/officeDocument" Target="/ppt/presentation.xml" Id="R7a5855013dab43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b667c27a0c4e11"/>
  </p:sldMasterIdLst>
  <p:notesMasterIdLst>
    <p:notesMasterId xmlns:r="http://schemas.openxmlformats.org/officeDocument/2006/relationships" r:id="R82be7d259ac04a50"/>
  </p:notesMasterIdLst>
  <p:sldIdLst>
    <p:sldId xmlns:r="http://schemas.openxmlformats.org/officeDocument/2006/relationships" id="256" r:id="R09c917c726e14004"/>
    <p:sldId xmlns:r="http://schemas.openxmlformats.org/officeDocument/2006/relationships" id="257" r:id="Rd769405a8594469a"/>
    <p:sldId xmlns:r="http://schemas.openxmlformats.org/officeDocument/2006/relationships" id="258" r:id="R6e32deca6c9e4127"/>
    <p:sldId xmlns:r="http://schemas.openxmlformats.org/officeDocument/2006/relationships" id="259" r:id="R8572acec2dcc4060"/>
    <p:sldId xmlns:r="http://schemas.openxmlformats.org/officeDocument/2006/relationships" id="260" r:id="R6cdaa888bdee4a27"/>
    <p:sldId xmlns:r="http://schemas.openxmlformats.org/officeDocument/2006/relationships" id="261" r:id="R2f6585e5342c4727"/>
    <p:sldId xmlns:r="http://schemas.openxmlformats.org/officeDocument/2006/relationships" id="262" r:id="R02821d615baf4d78"/>
    <p:sldId xmlns:r="http://schemas.openxmlformats.org/officeDocument/2006/relationships" id="263" r:id="R22e8c5381f214ab8"/>
    <p:sldId xmlns:r="http://schemas.openxmlformats.org/officeDocument/2006/relationships" id="264" r:id="Rddb208a2fbb64f70"/>
    <p:sldId xmlns:r="http://schemas.openxmlformats.org/officeDocument/2006/relationships" id="265" r:id="R75d5526b74214ba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53db7716fa4990" /><Relationship Type="http://schemas.openxmlformats.org/officeDocument/2006/relationships/slideMaster" Target="/ppt/slideMasters/slideMaster1.xml" Id="R54b667c27a0c4e11" /><Relationship Type="http://schemas.openxmlformats.org/officeDocument/2006/relationships/notesMaster" Target="/ppt/notesMasters/notesMaster1.xml" Id="R82be7d259ac04a50" /><Relationship Type="http://schemas.openxmlformats.org/officeDocument/2006/relationships/presProps" Target="/ppt/presProps.xml" Id="R41da6d1b08364f27" /><Relationship Type="http://schemas.openxmlformats.org/officeDocument/2006/relationships/tableStyles" Target="/ppt/tableStyles.xml" Id="Rfae64a26a9ef4988" /><Relationship Type="http://schemas.openxmlformats.org/officeDocument/2006/relationships/slide" Target="/ppt/slides/slide1.xml" Id="R09c917c726e14004" /><Relationship Type="http://schemas.openxmlformats.org/officeDocument/2006/relationships/slide" Target="/ppt/slides/slide2.xml" Id="Rd769405a8594469a" /><Relationship Type="http://schemas.openxmlformats.org/officeDocument/2006/relationships/slide" Target="/ppt/slides/slide3.xml" Id="R6e32deca6c9e4127" /><Relationship Type="http://schemas.openxmlformats.org/officeDocument/2006/relationships/slide" Target="/ppt/slides/slide4.xml" Id="R8572acec2dcc4060" /><Relationship Type="http://schemas.openxmlformats.org/officeDocument/2006/relationships/slide" Target="/ppt/slides/slide5.xml" Id="R6cdaa888bdee4a27" /><Relationship Type="http://schemas.openxmlformats.org/officeDocument/2006/relationships/slide" Target="/ppt/slides/slide6.xml" Id="R2f6585e5342c4727" /><Relationship Type="http://schemas.openxmlformats.org/officeDocument/2006/relationships/slide" Target="/ppt/slides/slide7.xml" Id="R02821d615baf4d78" /><Relationship Type="http://schemas.openxmlformats.org/officeDocument/2006/relationships/slide" Target="/ppt/slides/slide8.xml" Id="R22e8c5381f214ab8" /><Relationship Type="http://schemas.openxmlformats.org/officeDocument/2006/relationships/slide" Target="/ppt/slides/slide9.xml" Id="Rddb208a2fbb64f70" /><Relationship Type="http://schemas.openxmlformats.org/officeDocument/2006/relationships/slide" Target="/ppt/slides/slide10.xml" Id="R75d5526b74214b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0ab94ad46a40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b4ed51813f46ee" /><Relationship Type="http://schemas.openxmlformats.org/officeDocument/2006/relationships/notesMaster" Target="/ppt/notesMasters/notesMaster1.xml" Id="R386ce81fac324d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8c669d8e8840de" /><Relationship Type="http://schemas.openxmlformats.org/officeDocument/2006/relationships/notesMaster" Target="/ppt/notesMasters/notesMaster1.xml" Id="Rfb7b270a828848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3ce5a79c3a47f5" /><Relationship Type="http://schemas.openxmlformats.org/officeDocument/2006/relationships/notesMaster" Target="/ppt/notesMasters/notesMaster1.xml" Id="R97797568d73046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20149092b64e89" /><Relationship Type="http://schemas.openxmlformats.org/officeDocument/2006/relationships/notesMaster" Target="/ppt/notesMasters/notesMaster1.xml" Id="Rc352244cbc2b4e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85d66a2e154d0a" /><Relationship Type="http://schemas.openxmlformats.org/officeDocument/2006/relationships/notesMaster" Target="/ppt/notesMasters/notesMaster1.xml" Id="R757c293f81d247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e726ea7e9944ea" /><Relationship Type="http://schemas.openxmlformats.org/officeDocument/2006/relationships/notesMaster" Target="/ppt/notesMasters/notesMaster1.xml" Id="R7e7aaaba164a47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40655ac9354c09" /><Relationship Type="http://schemas.openxmlformats.org/officeDocument/2006/relationships/notesMaster" Target="/ppt/notesMasters/notesMaster1.xml" Id="R16d3e9932a1b43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52099dbab94c40" /><Relationship Type="http://schemas.openxmlformats.org/officeDocument/2006/relationships/notesMaster" Target="/ppt/notesMasters/notesMaster1.xml" Id="Rdc52719134ca4a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ad818fd2784c98" /><Relationship Type="http://schemas.openxmlformats.org/officeDocument/2006/relationships/notesMaster" Target="/ppt/notesMasters/notesMaster1.xml" Id="Rf4e055eb6e2e4d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ac9960a89146e2" /><Relationship Type="http://schemas.openxmlformats.org/officeDocument/2006/relationships/notesMaster" Target="/ppt/notesMasters/notesMaster1.xml" Id="R4efd6e6efc0b42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e7b9b4e4114a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e72c91da004735" /><Relationship Type="http://schemas.openxmlformats.org/officeDocument/2006/relationships/slideLayout" Target="/ppt/slideLayouts/slideLayout1.xml" Id="Ra6d2eadaaaa444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d2eadaaaa444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858df305e42ef" /><Relationship Type="http://schemas.openxmlformats.org/officeDocument/2006/relationships/image" Target="/ppt/media/image.png" Id="Rda4c71a8f00e49a2" /><Relationship Type="http://schemas.openxmlformats.org/officeDocument/2006/relationships/notesSlide" Target="/ppt/notesSlides/notesSlide1.xml" Id="R1894f84ff2ae47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732030c174960" /><Relationship Type="http://schemas.openxmlformats.org/officeDocument/2006/relationships/notesSlide" Target="/ppt/notesSlides/notesSlide2.xml" Id="Rcb190e2412bf42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c4d2e18fa4d2b" /><Relationship Type="http://schemas.openxmlformats.org/officeDocument/2006/relationships/notesSlide" Target="/ppt/notesSlides/notesSlide3.xml" Id="R76f99d9fd5fd46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73860772e4bec" /><Relationship Type="http://schemas.openxmlformats.org/officeDocument/2006/relationships/notesSlide" Target="/ppt/notesSlides/notesSlide4.xml" Id="R6bdc41465d604a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da6cdba0d4e54" /><Relationship Type="http://schemas.openxmlformats.org/officeDocument/2006/relationships/notesSlide" Target="/ppt/notesSlides/notesSlide5.xml" Id="R714b45bb0bfd4e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1affbe6784dff" /><Relationship Type="http://schemas.openxmlformats.org/officeDocument/2006/relationships/notesSlide" Target="/ppt/notesSlides/notesSlide6.xml" Id="Rbc264362388948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609d8483d420c" /><Relationship Type="http://schemas.openxmlformats.org/officeDocument/2006/relationships/notesSlide" Target="/ppt/notesSlides/notesSlide7.xml" Id="R7b3b2abce6384b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55330b6324658" /><Relationship Type="http://schemas.openxmlformats.org/officeDocument/2006/relationships/notesSlide" Target="/ppt/notesSlides/notesSlide8.xml" Id="R3c8b864de98a46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7954246164864" /><Relationship Type="http://schemas.openxmlformats.org/officeDocument/2006/relationships/notesSlide" Target="/ppt/notesSlides/notesSlide9.xml" Id="Rfbaa6b6f668e45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94b44b6de4a00" /><Relationship Type="http://schemas.openxmlformats.org/officeDocument/2006/relationships/image" Target="/ppt/media/image2.png" Id="R1a2d43c68c9c483c" /><Relationship Type="http://schemas.openxmlformats.org/officeDocument/2006/relationships/notesSlide" Target="/ppt/notesSlides/notesSlide10.xml" Id="R86a8758c67164a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c71a8f00e49a2"/>
          <a:stretch xmlns:a="http://schemas.openxmlformats.org/drawingml/2006/main"/>
        </p:blipFill>
        <p:spPr>
          <a:xfrm xmlns:a="http://schemas.openxmlformats.org/drawingml/2006/main">
            <a:off x="666750" y="612775"/>
            <a:ext cx="1866900" cy="622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21CF5-A4B8-4713-8E03-B4AE709D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01A"/>
                </a:solidFill>
              </a:defRPr>
            </a:pPr>
            <a:r>
              <a:rPr sz="4050" b="1">
                <a:solidFill>
                  <a:srgbClr val="10201A"/>
                </a:solidFill>
              </a:rPr>
              <a:t>观息 SenseLoop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5B0C1-52C7-4847-9723-F98F1A77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7068"/>
                </a:solidFill>
              </a:defRPr>
            </a:pPr>
            <a:r>
              <a:rPr sz="2100" b="0">
                <a:solidFill>
                  <a:srgbClr val="587068"/>
                </a:solidFill>
              </a:rPr>
              <a:t>每天早晨，把夜间身体信号变成今日行动建议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C58EF-81E7-4190-B923-FD82815B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23812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DFF6EA"/>
          </a:solidFill>
          <a:ln xmlns:a="http://schemas.openxmlformats.org/drawingml/2006/main" w="9525">
            <a:solidFill>
              <a:srgbClr val="DFF6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FFA34-F954-41CE-BE13-DE02D7B7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207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1A"/>
                </a:solidFill>
              </a:defRPr>
            </a:pPr>
            <a:r>
              <a:rPr sz="1125" b="1">
                <a:solidFill>
                  <a:srgbClr val="10201A"/>
                </a:solidFill>
              </a:rPr>
              <a:t>soundcore Work 夜间声音原型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C0641-3260-493D-8272-30064525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52850"/>
            <a:ext cx="21907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6B5BB-5B27-4EC6-9741-66561B03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29050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1A"/>
                </a:solidFill>
              </a:defRPr>
            </a:pPr>
            <a:r>
              <a:rPr sz="1125" b="1">
                <a:solidFill>
                  <a:srgbClr val="10201A"/>
                </a:solidFill>
              </a:rPr>
              <a:t>未来健康穿戴新品类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9A379-6243-4E59-A79A-E10F4151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57300"/>
            <a:ext cx="3524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DFF6EA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55265-91AC-4BAE-9A1D-760634CA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86050"/>
            <a:ext cx="3524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0B777-4DD3-4BD0-BACE-4C18F604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14800"/>
            <a:ext cx="3524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B1020-A2A4-42D7-BCDC-452E5D61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668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8A169"/>
                </a:solidFill>
              </a:defRPr>
            </a:pPr>
            <a:r>
              <a:rPr sz="2025" b="1">
                <a:solidFill>
                  <a:srgbClr val="38A169"/>
                </a:solidFill>
              </a:rPr>
              <a:t>夜间声音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9EEDF2-4AF5-4D09-859A-65D14940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8097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打鼾 / 咳嗽 / 起夜 / 噪声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65ED8-BB85-4AF7-9CF4-99EAEDAF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95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B82F6"/>
                </a:solidFill>
              </a:defRPr>
            </a:pPr>
            <a:r>
              <a:rPr sz="2025" b="1">
                <a:solidFill>
                  <a:srgbClr val="3B82F6"/>
                </a:solidFill>
              </a:rPr>
              <a:t>身体信号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BD3D2F-4A9D-4485-A274-A498493E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385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画像 / 饮食 / 排便 / 舌苔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D0E84-56F9-4210-95B9-A9C711A4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324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87918"/>
                </a:solidFill>
              </a:defRPr>
            </a:pPr>
            <a:r>
              <a:rPr sz="2025" b="1">
                <a:solidFill>
                  <a:srgbClr val="C87918"/>
                </a:solidFill>
              </a:rPr>
              <a:t>今日建议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13939B-2FA2-4749-862D-0B1AFE86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672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怎么吃 / 怎么动 / 怎么恢复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9BB1D9-4B65-40EB-B476-9A5F5FF1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71700"/>
            <a:ext cx="152400" cy="476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E15D99-CFE5-46A7-BEF7-C28CF616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00450"/>
            <a:ext cx="152400" cy="476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87BE86-4E3D-43D3-98CD-6D9AC7CF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Anker 黑客松预选答辩材料</a:t>
            </a:r>
          </a:p>
        </p:txBody>
      </p:sp>
    </p:spTree>
    <p:extLst>
      <p:ext uri="{BB962C8B-B14F-4D97-AF65-F5344CB8AC3E}">
        <p14:creationId xmlns:p14="http://schemas.microsoft.com/office/powerpoint/2010/main" val="2903761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8A81FE-CFB6-4264-A7AD-743DFBF7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1A"/>
                </a:solidFill>
              </a:defRPr>
            </a:pPr>
            <a:r>
              <a:rPr sz="2850" b="1">
                <a:solidFill>
                  <a:srgbClr val="10201A"/>
                </a:solidFill>
              </a:rPr>
              <a:t>用户不缺健康数据，缺的是今天该怎么做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4546E-6D5C-4B42-9FB6-F38254FF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睡眠、饮食、排便、舌苔、口气都在发信号，但普通用户很难把它们连起来。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FCAD7-4FCE-477D-BD8C-32446C88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D4"/>
          </a:solidFill>
          <a:ln xmlns:a="http://schemas.openxmlformats.org/drawingml/2006/main" w="0">
            <a:solidFill>
              <a:srgbClr val="C9DE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16262-4D84-4DAC-BAC4-C3D928C6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238500" cy="333375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857B7-C2B3-42D7-8983-A7CE76AC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1A"/>
                </a:solidFill>
              </a:defRPr>
            </a:pPr>
            <a:r>
              <a:rPr sz="1875" b="1">
                <a:solidFill>
                  <a:srgbClr val="10201A"/>
                </a:solidFill>
              </a:rPr>
              <a:t>身体信号很零散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84FD8-D6EC-4835-ABFE-31E0A19E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67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57D7E-5F9F-4690-8474-0CB68030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2514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068"/>
                </a:solidFill>
              </a:defRPr>
            </a:pPr>
            <a:r>
              <a:rPr sz="1425" b="0">
                <a:solidFill>
                  <a:srgbClr val="587068"/>
                </a:solidFill>
              </a:rPr>
              <a:t>打鼾、咳嗽、起夜、口干、便秘、舌苔变化，单独看都像小事。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015DB-83ED-42E2-AE1C-B257B1A7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86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A66AD-EF29-4324-BB6F-FE96E2FA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00450"/>
            <a:ext cx="2514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068"/>
                </a:solidFill>
              </a:defRPr>
            </a:pPr>
            <a:r>
              <a:rPr sz="1425" b="0">
                <a:solidFill>
                  <a:srgbClr val="587068"/>
                </a:solidFill>
              </a:rPr>
              <a:t>连续出现时，它们可能已经在提醒用户调整生活方式。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799CC-BE8B-4FB1-AAA4-D07101F4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3238500" cy="333375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5FBF7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CA926-0F40-4125-83B5-A88CCB5C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764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1A"/>
                </a:solidFill>
              </a:defRPr>
            </a:pPr>
            <a:r>
              <a:rPr sz="1875" b="1">
                <a:solidFill>
                  <a:srgbClr val="10201A"/>
                </a:solidFill>
              </a:rPr>
              <a:t>健康 App 停在报告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F4A577-D14B-4DEC-8F93-CE47B3E4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67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E4E645-FB56-4B99-B781-B1FE02EB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14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068"/>
                </a:solidFill>
              </a:defRPr>
            </a:pPr>
            <a:r>
              <a:rPr sz="1425" b="0">
                <a:solidFill>
                  <a:srgbClr val="587068"/>
                </a:solidFill>
              </a:rPr>
              <a:t>睡眠分数、步数、心率、卡路里很常见。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B5DCF4-22AB-4B9E-81E1-5A37533A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86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08295-B7FA-497C-ABF1-2CB98F1B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00450"/>
            <a:ext cx="2514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068"/>
                </a:solidFill>
              </a:defRPr>
            </a:pPr>
            <a:r>
              <a:rPr sz="1425" b="0">
                <a:solidFill>
                  <a:srgbClr val="587068"/>
                </a:solidFill>
              </a:rPr>
              <a:t>用户真正想知道的是咖啡、运动、饮食和恢复怎么安排。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89405-B06C-4238-865C-5924431E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238500" cy="333375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A72A16-BC96-47E8-A2B7-5D4FF477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1A"/>
                </a:solidFill>
              </a:defRPr>
            </a:pPr>
            <a:r>
              <a:rPr sz="1875" b="1">
                <a:solidFill>
                  <a:srgbClr val="10201A"/>
                </a:solidFill>
              </a:rPr>
              <a:t>私密小问题没人持续看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C4E9A5-2659-4614-8EFE-9B9FC0E6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67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CAF2B-9C39-4DBC-ADB6-D5AC6F97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2514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068"/>
                </a:solidFill>
              </a:defRPr>
            </a:pPr>
            <a:r>
              <a:rPr sz="1425" b="0">
                <a:solidFill>
                  <a:srgbClr val="587068"/>
                </a:solidFill>
              </a:rPr>
              <a:t>排便、口气、舌苔、睡眠差不一定立刻就医。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4C0820-90E1-4260-B02F-EE8F1DDC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86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72567C-CB73-4FF4-A5BC-2915295F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2514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068"/>
                </a:solidFill>
              </a:defRPr>
            </a:pPr>
            <a:r>
              <a:rPr sz="1425" b="0">
                <a:solidFill>
                  <a:srgbClr val="587068"/>
                </a:solidFill>
              </a:rPr>
              <a:t>但这些高频问题每天影响状态，也最适合做趋势观察。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30E9B9-848F-4CC0-8037-A5B2107D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721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8A169"/>
                </a:solidFill>
              </a:defRPr>
            </a:pPr>
            <a:r>
              <a:rPr sz="1800" b="1">
                <a:solidFill>
                  <a:srgbClr val="38A169"/>
                </a:solidFill>
              </a:rPr>
              <a:t>SenseLoop 的切入点：把身体每天释放的细微信号，翻译成用户能执行的一天计划。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F7593F-3421-4C47-9424-7D71B664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68"/>
                </a:solidFill>
              </a:defRPr>
            </a:pPr>
            <a:r>
              <a:rPr sz="975" b="0">
                <a:solidFill>
                  <a:srgbClr val="587068"/>
                </a:solidFill>
              </a:rPr>
              <a:t>anker-SenseLoop 观息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4EAD46-AA8D-4058-9DA3-04382971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8"/>
                </a:solidFill>
              </a:defRPr>
            </a:pPr>
            <a:r>
              <a:rPr sz="975" b="0">
                <a:solidFill>
                  <a:srgbClr val="58706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333343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EE6576-24A8-43E7-880A-40D8C1F5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1A"/>
                </a:solidFill>
              </a:defRPr>
            </a:pPr>
            <a:r>
              <a:rPr sz="2850" b="1">
                <a:solidFill>
                  <a:srgbClr val="10201A"/>
                </a:solidFill>
              </a:rPr>
              <a:t>当前 MVP 先跑通一个最硬的闭环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F1403-1685-4180-8F5F-025D580B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夜间声音是高频、自然、贴合 soundcore Work 的真实入口。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44938-F010-4B4C-B1C3-8F96D244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D4"/>
          </a:solidFill>
          <a:ln xmlns:a="http://schemas.openxmlformats.org/drawingml/2006/main" w="0">
            <a:solidFill>
              <a:srgbClr val="C9DE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A6003-D9BD-402E-9BC1-E32E1166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266950" cy="1771650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DFF6EA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08A20-56CA-43D7-B687-F5A5DDDD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1A"/>
                </a:solidFill>
              </a:defRPr>
            </a:pPr>
            <a:r>
              <a:rPr sz="1725" b="1">
                <a:solidFill>
                  <a:srgbClr val="10201A"/>
                </a:solidFill>
              </a:rPr>
              <a:t>soundcore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77B8E-3795-46B2-AD1C-5066AD31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1847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采集打鼾、咳嗽、起夜、环境噪声与重点标记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212E5-A7DE-47AD-B0FC-DF0E3A05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0375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02393-CB6E-41DB-9528-BF1A5CCB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90750"/>
            <a:ext cx="2266950" cy="1771650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BAF55-73FC-46F8-B818-28B3233D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765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1A"/>
                </a:solidFill>
              </a:defRPr>
            </a:pPr>
            <a:r>
              <a:rPr sz="1725" b="1">
                <a:solidFill>
                  <a:srgbClr val="10201A"/>
                </a:solidFill>
              </a:rPr>
              <a:t>身体信号理解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29871-F96E-4038-AD20-2B53DDED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90850"/>
            <a:ext cx="1847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把夜间事件与画像、饮食、排便、舌苔、口气关联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0D4608-A3FC-45F1-9C1D-4B9DAF12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00375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7C5811-CB74-4806-83C1-06A4FF06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2266950" cy="1771650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3B8DD-1033-4FCE-A2C1-037286B9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1A"/>
                </a:solidFill>
              </a:defRPr>
            </a:pPr>
            <a:r>
              <a:rPr sz="1725" b="1">
                <a:solidFill>
                  <a:srgbClr val="10201A"/>
                </a:solidFill>
              </a:rPr>
              <a:t>晨间健康日报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6B3E4-9F15-479E-8C23-C4CF314E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90850"/>
            <a:ext cx="1847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生成今天怎么吃、怎么动、怎么恢复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2FAC1-8B36-41D6-B183-E1F4DD46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0375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0CBA01-DC15-4B65-B2BA-7ED0EF25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90750"/>
            <a:ext cx="2266950" cy="1771650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37A8F2-AEA8-44EA-96C8-E51E15B4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765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1A"/>
                </a:solidFill>
              </a:defRPr>
            </a:pPr>
            <a:r>
              <a:rPr sz="1725" b="1">
                <a:solidFill>
                  <a:srgbClr val="10201A"/>
                </a:solidFill>
              </a:rPr>
              <a:t>长期穿戴演进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6DF687-1652-4DF4-9962-C28E4952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90850"/>
            <a:ext cx="1847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扩展到 Watch / Band / Pendant 多模态信号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2178CD-9521-4BB8-B475-724DB5F1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625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01A"/>
                </a:solidFill>
              </a:defRPr>
            </a:pPr>
            <a:r>
              <a:rPr sz="2025" b="1">
                <a:solidFill>
                  <a:srgbClr val="10201A"/>
                </a:solidFill>
              </a:rPr>
              <a:t>产品价值不止是“昨晚发生了什么”，而是让用户早上打开就知道“今天应该怎么做”。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7E46EB-6B9E-4C88-9B4A-47AE7E6F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68"/>
                </a:solidFill>
              </a:defRPr>
            </a:pPr>
            <a:r>
              <a:rPr sz="975" b="0">
                <a:solidFill>
                  <a:srgbClr val="587068"/>
                </a:solidFill>
              </a:rPr>
              <a:t>anker-SenseLoop 观息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7A6E69-9369-4C66-84A1-288219A7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8"/>
                </a:solidFill>
              </a:defRPr>
            </a:pPr>
            <a:r>
              <a:rPr sz="975" b="0">
                <a:solidFill>
                  <a:srgbClr val="58706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211224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562FF7-EEFB-45CC-A222-07D7C427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1A"/>
                </a:solidFill>
              </a:defRPr>
            </a:pPr>
            <a:r>
              <a:rPr sz="2850" b="1">
                <a:solidFill>
                  <a:srgbClr val="10201A"/>
                </a:solidFill>
              </a:rPr>
              <a:t>用 Anker 硬件重新解释“望闻问切”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47949-7738-43B0-8974-A698A925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当前聚焦真实可演示的“闻 + 问”，同时保留未来穿戴硬件空间。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9C55A-A28E-4341-9F2E-1FC250AC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D4"/>
          </a:solidFill>
          <a:ln xmlns:a="http://schemas.openxmlformats.org/drawingml/2006/main" w="0">
            <a:solidFill>
              <a:srgbClr val="C9DE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42FD2-D8D0-432F-827B-7F4AC42A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10287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DFF6EA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B0D14-6323-4C2F-883F-0B1F9EC3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9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201A"/>
                </a:solidFill>
              </a:defRPr>
            </a:pPr>
            <a:r>
              <a:rPr sz="2550" b="1">
                <a:solidFill>
                  <a:srgbClr val="10201A"/>
                </a:solidFill>
              </a:rPr>
              <a:t>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202CF-0BCB-42FE-BE33-C40FA7AB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288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1A"/>
                </a:solidFill>
              </a:defRPr>
            </a:pPr>
            <a:r>
              <a:rPr sz="1650" b="1">
                <a:solidFill>
                  <a:srgbClr val="10201A"/>
                </a:solidFill>
              </a:rPr>
              <a:t>soundcore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1F6EC-440B-4B82-AB16-C2C7F4BD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288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7068"/>
                </a:solidFill>
              </a:defRPr>
            </a:pPr>
            <a:r>
              <a:rPr sz="1575" b="0">
                <a:solidFill>
                  <a:srgbClr val="587068"/>
                </a:solidFill>
              </a:rPr>
              <a:t>夜间声音、打鼾、咳嗽、起夜、重点标记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5E14E0-3D42-4A61-8C14-787AB70D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10287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523C0-03D2-4CCD-8B15-BCDF2113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201A"/>
                </a:solidFill>
              </a:defRPr>
            </a:pPr>
            <a:r>
              <a:rPr sz="2550" b="1">
                <a:solidFill>
                  <a:srgbClr val="10201A"/>
                </a:solidFill>
              </a:rPr>
              <a:t>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D33D4-FA24-4580-9AB6-DDBE19AB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384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1A"/>
                </a:solidFill>
              </a:defRPr>
            </a:pPr>
            <a:r>
              <a:rPr sz="1650" b="1">
                <a:solidFill>
                  <a:srgbClr val="10201A"/>
                </a:solidFill>
              </a:rPr>
              <a:t>App 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4DF91-FD29-4B45-BF1D-99C8B61A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3845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7068"/>
                </a:solidFill>
              </a:defRPr>
            </a:pPr>
            <a:r>
              <a:rPr sz="1575" b="0">
                <a:solidFill>
                  <a:srgbClr val="587068"/>
                </a:solidFill>
              </a:rPr>
              <a:t>用户画像、睡前/醒后反馈、饮食与排便记录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D550F-4B05-4DE4-A335-21DFE3C8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0287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AF0DD-3F7B-4CB9-BBB4-79D6C62F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201A"/>
                </a:solidFill>
              </a:defRPr>
            </a:pPr>
            <a:r>
              <a:rPr sz="2550" b="1">
                <a:solidFill>
                  <a:srgbClr val="10201A"/>
                </a:solidFill>
              </a:rPr>
              <a:t>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1830D-6590-4D26-95AF-54D87490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481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1A"/>
                </a:solidFill>
              </a:defRPr>
            </a:pPr>
            <a:r>
              <a:rPr sz="1650" b="1">
                <a:solidFill>
                  <a:srgbClr val="10201A"/>
                </a:solidFill>
              </a:rPr>
              <a:t>手机拍照 / eufy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F12C0-5A0C-4EE7-999A-D839E0C4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481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7068"/>
                </a:solidFill>
              </a:defRPr>
            </a:pPr>
            <a:r>
              <a:rPr sz="1575" b="0">
                <a:solidFill>
                  <a:srgbClr val="587068"/>
                </a:solidFill>
              </a:rPr>
              <a:t>饮食、舌苔、非隐私生活状态观察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B7071-90E6-4805-8E5A-580D118D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10287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C6F649-DC48-47C7-8D63-6698C8F5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387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201A"/>
                </a:solidFill>
              </a:defRPr>
            </a:pPr>
            <a:r>
              <a:rPr sz="2550" b="1">
                <a:solidFill>
                  <a:srgbClr val="10201A"/>
                </a:solidFill>
              </a:rPr>
              <a:t>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D28865-36F1-4A3D-A43E-600B3132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57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1A"/>
                </a:solidFill>
              </a:defRPr>
            </a:pPr>
            <a:r>
              <a:rPr sz="1650" b="1">
                <a:solidFill>
                  <a:srgbClr val="10201A"/>
                </a:solidFill>
              </a:rPr>
              <a:t>模拟 / 未来传感器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F07C98-9547-47AA-9C64-16FE509C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5775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7068"/>
                </a:solidFill>
              </a:defRPr>
            </a:pPr>
            <a:r>
              <a:rPr sz="1575" b="0">
                <a:solidFill>
                  <a:srgbClr val="587068"/>
                </a:solidFill>
              </a:rPr>
              <a:t>心率、脉搏、血压、运动、血氧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6C43C5-21EA-4212-ACD7-BF1F93F0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245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1A"/>
                </a:solidFill>
              </a:defRPr>
            </a:pPr>
            <a:r>
              <a:rPr sz="1650" b="1">
                <a:solidFill>
                  <a:srgbClr val="10201A"/>
                </a:solidFill>
              </a:rPr>
              <a:t>边界很清楚：不做医疗诊断，不自动拍摄隐私内容，敏感数据必须用户主动触发。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945784-7361-4513-95D7-A645FB2F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68"/>
                </a:solidFill>
              </a:defRPr>
            </a:pPr>
            <a:r>
              <a:rPr sz="975" b="0">
                <a:solidFill>
                  <a:srgbClr val="587068"/>
                </a:solidFill>
              </a:rPr>
              <a:t>anker-SenseLoop 观息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4A7E43-021C-4744-B814-DA59BFA7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8"/>
                </a:solidFill>
              </a:defRPr>
            </a:pPr>
            <a:r>
              <a:rPr sz="975" b="0">
                <a:solidFill>
                  <a:srgbClr val="58706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44813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F58BC8-94E4-49DB-9A59-19BB706E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1A"/>
                </a:solidFill>
              </a:defRPr>
            </a:pPr>
            <a:r>
              <a:rPr sz="2850" b="1">
                <a:solidFill>
                  <a:srgbClr val="10201A"/>
                </a:solidFill>
              </a:rPr>
              <a:t>Demo 已经覆盖六个关键页面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7A97F-853D-4465-AE63-ABCB6476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前端不是静态海报，而是围绕五类用户画像与报告生成闭环设计。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3D155-7974-4BA4-8F25-7599CED4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D4"/>
          </a:solidFill>
          <a:ln xmlns:a="http://schemas.openxmlformats.org/drawingml/2006/main" w="0">
            <a:solidFill>
              <a:srgbClr val="C9DE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DD0D3-CB60-445E-B20C-BD18358C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3143250" cy="11811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34A6C-17D0-4523-BFD7-69B5887F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812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8A169"/>
                </a:solidFill>
              </a:defRPr>
            </a:pPr>
            <a:r>
              <a:rPr sz="1875" b="1">
                <a:solidFill>
                  <a:srgbClr val="38A169"/>
                </a:solidFill>
              </a:rPr>
              <a:t>首页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FDBF7-7F16-4F35-99B5-5864F055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今日状态、恢复分、四诊完成度、今日建议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D4F92-8105-46C0-9BAF-EDDA7C03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52600"/>
            <a:ext cx="3143250" cy="11811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CC93D-02A2-4515-8013-5B76835C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812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8A169"/>
                </a:solidFill>
              </a:defRPr>
            </a:pPr>
            <a:r>
              <a:rPr sz="1875" b="1">
                <a:solidFill>
                  <a:srgbClr val="38A169"/>
                </a:solidFill>
              </a:rPr>
              <a:t>睡眠页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32C8C-9E28-48DB-B0EA-04449F3A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声音时间线、打鼾/咳嗽/起夜、重点标记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FB945-3A25-4120-BA25-4811878F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43250" cy="11811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466A6-80CD-4C8A-BAA3-334DF15F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812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8A169"/>
                </a:solidFill>
              </a:defRPr>
            </a:pPr>
            <a:r>
              <a:rPr sz="1875" b="1">
                <a:solidFill>
                  <a:srgbClr val="38A169"/>
                </a:solidFill>
              </a:rPr>
              <a:t>饮食页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4894B-D74F-4C60-8040-0B5647A1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622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拍照入口、kcal 区间估算、用户修正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3B884-3309-4EBF-B322-ED702382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3143250" cy="11811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84DDDB-E4FD-4E71-84A9-9D446CDA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8A169"/>
                </a:solidFill>
              </a:defRPr>
            </a:pPr>
            <a:r>
              <a:rPr sz="1875" b="1">
                <a:solidFill>
                  <a:srgbClr val="38A169"/>
                </a:solidFill>
              </a:rPr>
              <a:t>信号页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A9229E-480F-461E-8D00-0E127404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排便、舌苔、口气记录与隐私边界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5F669-8F87-4794-897E-4A5815FD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71850"/>
            <a:ext cx="3143250" cy="11811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F3625B-0D8C-42A0-884D-B388DA17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004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8A169"/>
                </a:solidFill>
              </a:defRPr>
            </a:pPr>
            <a:r>
              <a:rPr sz="1875" b="1">
                <a:solidFill>
                  <a:srgbClr val="38A169"/>
                </a:solidFill>
              </a:rPr>
              <a:t>日报页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2F0FF3-2C80-4FFF-8117-16771D9A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814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五类用户画像下的个性化行动建议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4CFE5E-EC42-41CF-BB98-0055C382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3143250" cy="11811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2FE28-1C07-44AF-B488-FFF475CC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0045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8A169"/>
                </a:solidFill>
              </a:defRPr>
            </a:pPr>
            <a:r>
              <a:rPr sz="1875" b="1">
                <a:solidFill>
                  <a:srgbClr val="38A169"/>
                </a:solidFill>
              </a:rPr>
              <a:t>架构页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13BE88-8537-49E1-8C96-2DD6C489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814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soundcore Work 原型到未来穿戴演进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5F8702-C47E-4BA3-B12B-5313FA51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068"/>
                </a:solidFill>
              </a:defRPr>
            </a:pPr>
            <a:r>
              <a:rPr sz="1425" b="0">
                <a:solidFill>
                  <a:srgbClr val="587068"/>
                </a:solidFill>
              </a:rPr>
              <a:t>在线 Demo：https://13-57-166-217.sslip.io/senseloop/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914A06-13F2-4BFC-8585-0949CB6D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68"/>
                </a:solidFill>
              </a:defRPr>
            </a:pPr>
            <a:r>
              <a:rPr sz="975" b="0">
                <a:solidFill>
                  <a:srgbClr val="587068"/>
                </a:solidFill>
              </a:rPr>
              <a:t>anker-SenseLoop 观息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B210F9-A0A9-4417-BC45-338719BF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8"/>
                </a:solidFill>
              </a:defRPr>
            </a:pPr>
            <a:r>
              <a:rPr sz="975" b="0">
                <a:solidFill>
                  <a:srgbClr val="58706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542337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B6A0F9-4482-482E-87A4-7E2B9324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1A"/>
                </a:solidFill>
              </a:defRPr>
            </a:pPr>
            <a:r>
              <a:rPr sz="2850" b="1">
                <a:solidFill>
                  <a:srgbClr val="10201A"/>
                </a:solidFill>
              </a:rPr>
              <a:t>技术架构按“可跑通、可替换、可增强”设计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A864A-7801-489E-A9D0-7ECBF9A2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没有 SDK 时用 mock adapter 稳定演示，拿到 SDK 后替换采集层即可。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04A8D-28B1-47F0-86D9-29DA6D37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D4"/>
          </a:solidFill>
          <a:ln xmlns:a="http://schemas.openxmlformats.org/drawingml/2006/main" w="0">
            <a:solidFill>
              <a:srgbClr val="C9DE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1BB5D-D156-4D11-A64E-D9E87F6D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19250"/>
            <a:ext cx="96202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DFF6EA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148A6-3CB5-4A56-AD64-2A5CA4D5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621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1A"/>
                </a:solidFill>
              </a:defRPr>
            </a:pPr>
            <a:r>
              <a:rPr sz="1575" b="1">
                <a:solidFill>
                  <a:srgbClr val="10201A"/>
                </a:solidFill>
              </a:rPr>
              <a:t>采集适配层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B1313-4358-465B-AF2E-E59FE570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62125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7068"/>
                </a:solidFill>
              </a:defRPr>
            </a:pPr>
            <a:r>
              <a:rPr sz="1500" b="0">
                <a:solidFill>
                  <a:srgbClr val="587068"/>
                </a:solidFill>
              </a:rPr>
              <a:t>soundcore Work / 上传音频 / App 输入 / eufy placeholder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D692D-84BD-4792-B139-C1590800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0275"/>
            <a:ext cx="15240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DE1C2-6F2F-4C7D-A66C-D176A39F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0300"/>
            <a:ext cx="96202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58488-8B31-4386-9A0D-C25C4516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431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1A"/>
                </a:solidFill>
              </a:defRPr>
            </a:pPr>
            <a:r>
              <a:rPr sz="1575" b="1">
                <a:solidFill>
                  <a:srgbClr val="10201A"/>
                </a:solidFill>
              </a:rPr>
              <a:t>信号标签层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C0A99-91DB-4A02-B167-A8C4F695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43175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7068"/>
                </a:solidFill>
              </a:defRPr>
            </a:pPr>
            <a:r>
              <a:rPr sz="1500" b="0">
                <a:solidFill>
                  <a:srgbClr val="587068"/>
                </a:solidFill>
              </a:rPr>
              <a:t>SleepAudioEvent、DietSignal、StoolSignal、TongueSignal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3C8BE-CB10-42F1-B861-C4D7619C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81325"/>
            <a:ext cx="15240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E719A-D322-4D22-8810-F3540752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81350"/>
            <a:ext cx="96202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0C560-A382-4475-98FF-D85A9143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242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1A"/>
                </a:solidFill>
              </a:defRPr>
            </a:pPr>
            <a:r>
              <a:rPr sz="1575" b="1">
                <a:solidFill>
                  <a:srgbClr val="10201A"/>
                </a:solidFill>
              </a:rPr>
              <a:t>知识库规则层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8F1AF6-0625-4CF3-ADCF-412B24C3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24225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7068"/>
                </a:solidFill>
              </a:defRPr>
            </a:pPr>
            <a:r>
              <a:rPr sz="1500" b="0">
                <a:solidFill>
                  <a:srgbClr val="587068"/>
                </a:solidFill>
              </a:rPr>
              <a:t>睡眠、饮食、减脂、排便、舌苔、运动恢复规则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B3EA4-E349-4737-A24E-5D990DFD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62375"/>
            <a:ext cx="15240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BE7E0-18E0-4F48-85C2-870058C6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962400"/>
            <a:ext cx="96202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EB1F1A-CC0F-470D-9467-A4CE8799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052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1A"/>
                </a:solidFill>
              </a:defRPr>
            </a:pPr>
            <a:r>
              <a:rPr sz="1575" b="1">
                <a:solidFill>
                  <a:srgbClr val="10201A"/>
                </a:solidFill>
              </a:rPr>
              <a:t>报告生成层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D5A473-2D0F-406D-B301-7334D6B6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05275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7068"/>
                </a:solidFill>
              </a:defRPr>
            </a:pPr>
            <a:r>
              <a:rPr sz="1500" b="0">
                <a:solidFill>
                  <a:srgbClr val="587068"/>
                </a:solidFill>
              </a:rPr>
              <a:t>用户画像 + 多模态信号 -&gt; 今日行动建议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E41972-432C-4C04-A7BA-C01E8DBC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43425"/>
            <a:ext cx="15240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17450C-BBCB-4011-A309-1F644529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43450"/>
            <a:ext cx="96202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5D3BC7-1A70-42FD-96E6-3D860F8D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863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1A"/>
                </a:solidFill>
              </a:defRPr>
            </a:pPr>
            <a:r>
              <a:rPr sz="1575" b="1">
                <a:solidFill>
                  <a:srgbClr val="10201A"/>
                </a:solidFill>
              </a:rPr>
              <a:t>展示层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134094-BCF7-4960-91B5-74745AE7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86325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7068"/>
                </a:solidFill>
              </a:defRPr>
            </a:pPr>
            <a:r>
              <a:rPr sz="1500" b="0">
                <a:solidFill>
                  <a:srgbClr val="587068"/>
                </a:solidFill>
              </a:rPr>
              <a:t>React App、Python API、在线 Demo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43B0F4-9BB4-4352-9D3A-00D80118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68"/>
                </a:solidFill>
              </a:defRPr>
            </a:pPr>
            <a:r>
              <a:rPr sz="975" b="0">
                <a:solidFill>
                  <a:srgbClr val="587068"/>
                </a:solidFill>
              </a:rPr>
              <a:t>anker-SenseLoop 观息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FC9E08-2581-488A-8949-EA0C432C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8"/>
                </a:solidFill>
              </a:defRPr>
            </a:pPr>
            <a:r>
              <a:rPr sz="975" b="0">
                <a:solidFill>
                  <a:srgbClr val="58706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976419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A17DCB-F9F2-4DED-860F-5A7C9149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1A"/>
                </a:solidFill>
              </a:defRPr>
            </a:pPr>
            <a:r>
              <a:rPr sz="2850" b="1">
                <a:solidFill>
                  <a:srgbClr val="10201A"/>
                </a:solidFill>
              </a:rPr>
              <a:t>同一夜间事件，会因为用户画像生成不同建议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3CB00-E0F0-4DC4-8E3C-9EB1EC64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这让 SenseLoop 从模板报告变成个性化健康行动助手。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FBBE6-B314-4052-8ED4-ECFCF716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D4"/>
          </a:solidFill>
          <a:ln xmlns:a="http://schemas.openxmlformats.org/drawingml/2006/main" w="0">
            <a:solidFill>
              <a:srgbClr val="C9DE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40279-1DBD-4790-981C-EF8DA37E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A169"/>
                </a:solidFill>
              </a:defRPr>
            </a:pPr>
            <a:r>
              <a:rPr sz="1650" b="1">
                <a:solidFill>
                  <a:srgbClr val="38A169"/>
                </a:solidFill>
              </a:rPr>
              <a:t>减脂人群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83E0D-DFA5-4AC2-8A8D-E27DB7FE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0020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关注 kcal、排便、水肿和训练强度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1E646-77F8-452C-80B9-6D3E4F5D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24000"/>
            <a:ext cx="4762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D1091-E711-4527-B586-75200F15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5925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1A"/>
                </a:solidFill>
              </a:defRPr>
            </a:pPr>
            <a:r>
              <a:rPr sz="1500" b="1">
                <a:solidFill>
                  <a:srgbClr val="10201A"/>
                </a:solidFill>
              </a:rPr>
              <a:t>今天轻控热量，不建议硬扛高强度训练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14C1EE-7CA8-4AF4-AD51-9E9D2E0E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A169"/>
                </a:solidFill>
              </a:defRPr>
            </a:pPr>
            <a:r>
              <a:rPr sz="1650" b="1">
                <a:solidFill>
                  <a:srgbClr val="38A169"/>
                </a:solidFill>
              </a:rPr>
              <a:t>老年人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77F1E-7538-4423-917D-86B5F1BE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574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关注夜间咳嗽、起夜、饮食清淡和家人关怀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B073B7-6A83-4758-AF98-3ECE77D7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4762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E3CA1-3216-4F67-860F-91C11FFD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43175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1A"/>
                </a:solidFill>
              </a:defRPr>
            </a:pPr>
            <a:r>
              <a:rPr sz="1500" b="1">
                <a:solidFill>
                  <a:srgbClr val="10201A"/>
                </a:solidFill>
              </a:rPr>
              <a:t>今天以清淡饮食和低强度活动为主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179A8-2965-4C98-ABCF-5F0FC1FC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A169"/>
                </a:solidFill>
              </a:defRPr>
            </a:pPr>
            <a:r>
              <a:rPr sz="1650" b="1">
                <a:solidFill>
                  <a:srgbClr val="38A169"/>
                </a:solidFill>
              </a:rPr>
              <a:t>上班族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780AF-1FA6-40E4-99ED-6EB45989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1470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关注睡眠债、咖啡因、外卖和肠胃负担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D89CAF-2C7B-41F2-B92B-4DCBC81C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38500"/>
            <a:ext cx="4762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F4A94D-37E3-40B6-82B2-F2B92C5C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0425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1A"/>
                </a:solidFill>
              </a:defRPr>
            </a:pPr>
            <a:r>
              <a:rPr sz="1500" b="1">
                <a:solidFill>
                  <a:srgbClr val="10201A"/>
                </a:solidFill>
              </a:rPr>
              <a:t>今天先恢复，不要用咖啡和重训硬撑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663C3-7787-4D85-AD17-EB5DE06D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A169"/>
                </a:solidFill>
              </a:defRPr>
            </a:pPr>
            <a:r>
              <a:rPr sz="1650" b="1">
                <a:solidFill>
                  <a:srgbClr val="38A169"/>
                </a:solidFill>
              </a:rPr>
              <a:t>学生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DB18E-C0E5-44C7-8F8A-6D919D98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719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关注早餐、营养、专注和作息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A18BEF-62A4-4D87-B0B0-206891F7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762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5A450-883F-461C-9328-AAD80ABD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1A"/>
                </a:solidFill>
              </a:defRPr>
            </a:pPr>
            <a:r>
              <a:rPr sz="1500" b="1">
                <a:solidFill>
                  <a:srgbClr val="10201A"/>
                </a:solidFill>
              </a:rPr>
              <a:t>今天优先补能量、稳专注，减少高糖饮料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45D67F-B266-4B52-8134-C2AFC982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A169"/>
                </a:solidFill>
              </a:defRPr>
            </a:pPr>
            <a:r>
              <a:rPr sz="1650" b="1">
                <a:solidFill>
                  <a:srgbClr val="38A169"/>
                </a:solidFill>
              </a:rPr>
              <a:t>失眠人群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53CA7D-FF49-4F9D-B172-1C07DBB7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2920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关注夜醒、环境噪声、睡前行为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F44C28-3288-422B-BE33-95860C14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53000"/>
            <a:ext cx="4762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CBB8AA-F625-4B31-BC3B-D6526C91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14925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1A"/>
                </a:solidFill>
              </a:defRPr>
            </a:pPr>
            <a:r>
              <a:rPr sz="1500" b="1">
                <a:solidFill>
                  <a:srgbClr val="10201A"/>
                </a:solidFill>
              </a:rPr>
              <a:t>今天控制午睡，晚上提前进入放松流程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790A87-EFDD-44F4-A574-F85EE148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68"/>
                </a:solidFill>
              </a:defRPr>
            </a:pPr>
            <a:r>
              <a:rPr sz="975" b="0">
                <a:solidFill>
                  <a:srgbClr val="587068"/>
                </a:solidFill>
              </a:rPr>
              <a:t>anker-SenseLoop 观息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275473-773F-4634-BD9B-56E97CC2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8"/>
                </a:solidFill>
              </a:defRPr>
            </a:pPr>
            <a:r>
              <a:rPr sz="975" b="0">
                <a:solidFill>
                  <a:srgbClr val="58706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154690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3ACE99-1F7C-448B-AC5D-A905B3AA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1A"/>
                </a:solidFill>
              </a:defRPr>
            </a:pPr>
            <a:r>
              <a:rPr sz="2850" b="1">
                <a:solidFill>
                  <a:srgbClr val="10201A"/>
                </a:solidFill>
              </a:rPr>
              <a:t>隐私和医疗边界会直接影响评审信任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F863D-543E-4E1C-86E2-109462B7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健康类产品必须先把不能做什么讲清楚，评委才会相信能落地。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ABAE3-5CC2-49D8-8118-90DF36B3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D4"/>
          </a:solidFill>
          <a:ln xmlns:a="http://schemas.openxmlformats.org/drawingml/2006/main" w="0">
            <a:solidFill>
              <a:srgbClr val="C9DE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37AFA-574D-4318-96D4-EC0B123C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49530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95B8F-CA98-43BA-A87D-F1945BCC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90700"/>
            <a:ext cx="49530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D659C-4626-4770-93A3-3D3B7E64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1A"/>
                </a:solidFill>
              </a:defRPr>
            </a:pPr>
            <a:r>
              <a:rPr sz="2025" b="1">
                <a:solidFill>
                  <a:srgbClr val="10201A"/>
                </a:solidFill>
              </a:rPr>
              <a:t>健康表达边界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02913-FC6B-4880-A350-6D0A44B3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71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EF0DD-EF4C-485C-81EB-463B6A2C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860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068"/>
                </a:solidFill>
              </a:defRPr>
            </a:pPr>
            <a:r>
              <a:rPr sz="1425" b="0">
                <a:solidFill>
                  <a:srgbClr val="587068"/>
                </a:solidFill>
              </a:rPr>
              <a:t>不做疾病诊断，不承诺治疗效果。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07BAE-7676-41A6-880A-0C8190E5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24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7477C-A8E8-4909-89F7-31EC197F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068"/>
                </a:solidFill>
              </a:defRPr>
            </a:pPr>
            <a:r>
              <a:rPr sz="1425" b="0">
                <a:solidFill>
                  <a:srgbClr val="587068"/>
                </a:solidFill>
              </a:rPr>
              <a:t>连续异常只提示继续观察或咨询专业医生。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35FB1-2DF3-42C2-8F23-C0BB97F9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76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22268-A33D-4CC4-87A8-5AF1DD5F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909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068"/>
                </a:solidFill>
              </a:defRPr>
            </a:pPr>
            <a:r>
              <a:rPr sz="1425" b="0">
                <a:solidFill>
                  <a:srgbClr val="587068"/>
                </a:solidFill>
              </a:rPr>
              <a:t>原始音频优先本地处理，报告默认展示结构化标签。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63C1D-21E4-4C5C-87ED-A81C71E0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29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A9B67F-E9E9-4BBA-B7A9-031DA9D6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434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068"/>
                </a:solidFill>
              </a:defRPr>
            </a:pPr>
            <a:r>
              <a:rPr sz="1425" b="0">
                <a:solidFill>
                  <a:srgbClr val="587068"/>
                </a:solidFill>
              </a:rPr>
              <a:t>排便、舌苔、口气等敏感信号必须用户主动触发。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95B75-E4BD-4D92-B9F1-A77A00AA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1A"/>
                </a:solidFill>
              </a:defRPr>
            </a:pPr>
            <a:r>
              <a:rPr sz="2025" b="1">
                <a:solidFill>
                  <a:srgbClr val="10201A"/>
                </a:solidFill>
              </a:rPr>
              <a:t>隐私保护边界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F046F-90C7-42BA-9474-30C49383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71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493D2-C9F2-42BA-B641-FC49C0C5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860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068"/>
                </a:solidFill>
              </a:defRPr>
            </a:pPr>
            <a:r>
              <a:rPr sz="1425" b="0">
                <a:solidFill>
                  <a:srgbClr val="587068"/>
                </a:solidFill>
              </a:rPr>
              <a:t>eufy 只用于非隐私视觉场景。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AA8ED3-2384-4469-8CB9-AE2FEC82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24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3CC34D-2F79-40BD-A617-C620B68D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385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068"/>
                </a:solidFill>
              </a:defRPr>
            </a:pPr>
            <a:r>
              <a:rPr sz="1425" b="0">
                <a:solidFill>
                  <a:srgbClr val="587068"/>
                </a:solidFill>
              </a:rPr>
              <a:t>不自动拍摄厕所、大便等敏感画面。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086C31-7B3C-4D7B-9A79-A0355E00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76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6AA9A-1539-48F0-885D-B1445FA5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909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068"/>
                </a:solidFill>
              </a:defRPr>
            </a:pPr>
            <a:r>
              <a:rPr sz="1425" b="0">
                <a:solidFill>
                  <a:srgbClr val="587068"/>
                </a:solidFill>
              </a:rPr>
              <a:t>家庭共享只展示摘要和趋势。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F2615C-5DE0-4D6A-B28C-BD32964A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29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169"/>
          </a:solidFill>
          <a:ln xmlns:a="http://schemas.openxmlformats.org/drawingml/2006/main" w="0">
            <a:solidFill>
              <a:srgbClr val="38A16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ADE4BC-6212-4B39-A796-4B5994F4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434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068"/>
                </a:solidFill>
              </a:defRPr>
            </a:pPr>
            <a:r>
              <a:rPr sz="1425" b="0">
                <a:solidFill>
                  <a:srgbClr val="587068"/>
                </a:solidFill>
              </a:rPr>
              <a:t>用户可以删除记录，现场可用 mock 数据 fallback。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AD517F-A257-42CB-BEB6-9FD22A4F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68"/>
                </a:solidFill>
              </a:defRPr>
            </a:pPr>
            <a:r>
              <a:rPr sz="975" b="0">
                <a:solidFill>
                  <a:srgbClr val="587068"/>
                </a:solidFill>
              </a:rPr>
              <a:t>anker-SenseLoop 观息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04430F-ECE6-468C-812C-220EA7D6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8"/>
                </a:solidFill>
              </a:defRPr>
            </a:pPr>
            <a:r>
              <a:rPr sz="975" b="0">
                <a:solidFill>
                  <a:srgbClr val="58706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672675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8589F9-F171-4677-B219-03CD6931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1A"/>
                </a:solidFill>
              </a:defRPr>
            </a:pPr>
            <a:r>
              <a:rPr sz="2850" b="1">
                <a:solidFill>
                  <a:srgbClr val="10201A"/>
                </a:solidFill>
              </a:rPr>
              <a:t>商业化价值来自每天早晨的高频入口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AF648-2A5B-4BA9-B6DB-4DFC7F37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它不是普通睡眠 App，也不是复刻 Apple Watch，而是 Anker 可延展的健康穿戴新品类。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52222-8596-437B-BD5D-AEBFCD02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D4"/>
          </a:solidFill>
          <a:ln xmlns:a="http://schemas.openxmlformats.org/drawingml/2006/main" w="0">
            <a:solidFill>
              <a:srgbClr val="C9DE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92990-4C04-432A-820F-BB1B0C6A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476250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DFF6EA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5CB48-5CA7-425C-AFC4-1A9A5FC0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76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1A"/>
                </a:solidFill>
              </a:defRPr>
            </a:pPr>
            <a:r>
              <a:rPr sz="1950" b="1">
                <a:solidFill>
                  <a:srgbClr val="10201A"/>
                </a:solidFill>
              </a:rPr>
              <a:t>硬件销售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8DEE0-1E2C-4EB6-86B7-43BFAA82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SenseLoop Watch / Band / Pendant，承接 soundcore 与 eufy 的能力演进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CC0EB-498B-4528-8F61-9B30A88D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476250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99623-7577-4619-B434-1DDD3EFE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1A"/>
                </a:solidFill>
              </a:defRPr>
            </a:pPr>
            <a:r>
              <a:rPr sz="1950" b="1">
                <a:solidFill>
                  <a:srgbClr val="10201A"/>
                </a:solidFill>
              </a:rPr>
              <a:t>App 订阅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66766-8220-4634-A5FC-F9FB59BB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高级日报、长期趋势、个性化健康建议、减脂与恢复计划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0B807-B1C8-4B8C-983F-839688FF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476250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85F039-CBDF-458F-9774-3FCDFC56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2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1A"/>
                </a:solidFill>
              </a:defRPr>
            </a:pPr>
            <a:r>
              <a:rPr sz="1950" b="1">
                <a:solidFill>
                  <a:srgbClr val="10201A"/>
                </a:solidFill>
              </a:rPr>
              <a:t>家庭健康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71D0AA-A8A1-4A08-8498-476670DC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老人简版报告、家人同步、连续异常提醒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43572-DCBB-4C4C-BA60-EA4E865A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476250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C9F15-11E3-45ED-8351-B9DF27BE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52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1A"/>
                </a:solidFill>
              </a:defRPr>
            </a:pPr>
            <a:r>
              <a:rPr sz="1950" b="1">
                <a:solidFill>
                  <a:srgbClr val="10201A"/>
                </a:solidFill>
              </a:rPr>
              <a:t>服务合作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6E77BB-B37A-49E1-851C-2AFCF6CB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71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营养、运动、睡眠改善、健康管理服务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1AE147-4488-4C69-936D-55A4958C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007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8A169"/>
                </a:solidFill>
              </a:defRPr>
            </a:pPr>
            <a:r>
              <a:rPr sz="1800" b="1">
                <a:solidFill>
                  <a:srgbClr val="38A169"/>
                </a:solidFill>
              </a:rPr>
              <a:t>可卖的不是单个传感器，而是“读懂身体信号并给出今日行动”的长期关系。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6AA8B-5527-4676-9562-A749D6E8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68"/>
                </a:solidFill>
              </a:defRPr>
            </a:pPr>
            <a:r>
              <a:rPr sz="975" b="0">
                <a:solidFill>
                  <a:srgbClr val="587068"/>
                </a:solidFill>
              </a:rPr>
              <a:t>anker-SenseLoop 观息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58E26-912B-435A-B476-89A4367E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8"/>
                </a:solidFill>
              </a:defRPr>
            </a:pPr>
            <a:r>
              <a:rPr sz="975" b="0">
                <a:solidFill>
                  <a:srgbClr val="58706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604290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46AA4E-E3B7-461F-8309-999C4A42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1A"/>
                </a:solidFill>
              </a:defRPr>
            </a:pPr>
            <a:r>
              <a:rPr sz="2850" b="1">
                <a:solidFill>
                  <a:srgbClr val="10201A"/>
                </a:solidFill>
              </a:rPr>
              <a:t>24 小时现场开发计划很清晰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902E3-087E-4394-91ED-79011A8A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68"/>
                </a:solidFill>
              </a:defRPr>
            </a:pPr>
            <a:r>
              <a:rPr sz="1350" b="0">
                <a:solidFill>
                  <a:srgbClr val="587068"/>
                </a:solidFill>
              </a:rPr>
              <a:t>当前原型稳定可演示，现场时间用于增强真实硬件与真实数据。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A466C-E24A-44FB-AF9F-7218923F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ED4"/>
          </a:solidFill>
          <a:ln xmlns:a="http://schemas.openxmlformats.org/drawingml/2006/main" w="0">
            <a:solidFill>
              <a:srgbClr val="C9DE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E562A-626E-4642-9FD6-E2E03F68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68580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69DE3-03EB-42FF-AD33-88686F0C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431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A169"/>
                </a:solidFill>
              </a:defRPr>
            </a:pPr>
            <a:r>
              <a:rPr sz="1800" b="1">
                <a:solidFill>
                  <a:srgbClr val="38A169"/>
                </a:solidFill>
              </a:rPr>
              <a:t>优先增强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D21D4-AFFB-441F-B9CC-94487AAE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431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7068"/>
                </a:solidFill>
              </a:defRPr>
            </a:pPr>
            <a:r>
              <a:rPr sz="1500" b="0">
                <a:solidFill>
                  <a:srgbClr val="587068"/>
                </a:solidFill>
              </a:rPr>
              <a:t>接入 soundcore Work SDK 或真实录音文件，把声音事件接入日报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20F1E-5972-4990-A7B2-53A058B4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68580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789C32-6343-4C92-BA90-CF56E07F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99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A169"/>
                </a:solidFill>
              </a:defRPr>
            </a:pPr>
            <a:r>
              <a:rPr sz="1800" b="1">
                <a:solidFill>
                  <a:srgbClr val="38A169"/>
                </a:solidFill>
              </a:rPr>
              <a:t>可选增强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30B92-6128-498D-8C49-DAE4D5F6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099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7068"/>
                </a:solidFill>
              </a:defRPr>
            </a:pPr>
            <a:r>
              <a:rPr sz="1500" b="0">
                <a:solidFill>
                  <a:srgbClr val="587068"/>
                </a:solidFill>
              </a:rPr>
              <a:t>加入音频上传、图片上传、LLM 文案润色、eufy 非隐私视觉事件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3237B-CB47-464B-BB43-C14C312B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68580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5F9DB-05B1-45CD-BF52-14A6A3CA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A169"/>
                </a:solidFill>
              </a:defRPr>
            </a:pPr>
            <a:r>
              <a:rPr sz="1800" b="1">
                <a:solidFill>
                  <a:srgbClr val="38A169"/>
                </a:solidFill>
              </a:rPr>
              <a:t>Fallback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A5C11-3A0C-4B50-B78C-A783446B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767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7068"/>
                </a:solidFill>
              </a:defRPr>
            </a:pPr>
            <a:r>
              <a:rPr sz="1500" b="0">
                <a:solidFill>
                  <a:srgbClr val="587068"/>
                </a:solidFill>
              </a:rPr>
              <a:t>无 SDK 用 mock adapter，无 API Key 用本地规则，无网络可本地运行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EF3C5-F9D4-4336-B36C-E68A04B9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2381250" cy="28765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ED4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d43c68c9c483c"/>
          <a:stretch xmlns:a="http://schemas.openxmlformats.org/drawingml/2006/main"/>
        </p:blipFill>
        <p:spPr>
          <a:xfrm xmlns:a="http://schemas.openxmlformats.org/drawingml/2006/main">
            <a:off x="8620125" y="203835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80B94-572D-4E35-906B-164A5047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814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1A"/>
                </a:solidFill>
              </a:defRPr>
            </a:pPr>
            <a:r>
              <a:rPr sz="1650" b="1">
                <a:solidFill>
                  <a:srgbClr val="10201A"/>
                </a:solidFill>
              </a:rPr>
              <a:t>扫码打开 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645A7-125A-4770-9C76-8BB0F0C8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43400"/>
            <a:ext cx="2628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87068"/>
                </a:solidFill>
              </a:defRPr>
            </a:pPr>
            <a:r>
              <a:rPr sz="1125" b="0">
                <a:solidFill>
                  <a:srgbClr val="587068"/>
                </a:solidFill>
              </a:rPr>
              <a:t>https://13-57-166-217.sslip.io/senseloop/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685374-0C6E-41FB-96E7-BF69662D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1A"/>
                </a:solidFill>
              </a:defRPr>
            </a:pPr>
            <a:r>
              <a:rPr sz="1800" b="1">
                <a:solidFill>
                  <a:srgbClr val="10201A"/>
                </a:solidFill>
              </a:rPr>
              <a:t>最终目标：用 Anker 官方硬件验证核心闭环，再演进为 SenseLoop 健康穿戴产品线。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5D74CD-CABD-4408-B238-E71DF9F2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7068"/>
                </a:solidFill>
              </a:defRPr>
            </a:pPr>
            <a:r>
              <a:rPr sz="975" b="0">
                <a:solidFill>
                  <a:srgbClr val="587068"/>
                </a:solidFill>
              </a:rPr>
              <a:t>anker-SenseLoop 观息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744242-2A1A-40ED-B8F5-0991090E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7068"/>
                </a:solidFill>
              </a:defRPr>
            </a:pPr>
            <a:r>
              <a:rPr sz="975" b="0">
                <a:solidFill>
                  <a:srgbClr val="58706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212568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2026-09-20T10:31:40.8800000Z</dcterms:created>
  <dcterms:modified xsi:type="dcterms:W3CDTF">2026-09-20T10:31:40.8800000Z</dcterms:modified>
</coreProperties>
</file>