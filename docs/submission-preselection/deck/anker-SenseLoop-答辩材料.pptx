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d4560fa030481c" /><Relationship Type="http://schemas.openxmlformats.org/officeDocument/2006/relationships/extended-properties" Target="/docProps/app.xml" Id="Rf2eb0571906f467c" /><Relationship Type="http://schemas.openxmlformats.org/officeDocument/2006/relationships/officeDocument" Target="/ppt/presentation.xml" Id="Refd3ba3356b847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2c8cf5a020433f"/>
  </p:sldMasterIdLst>
  <p:notesMasterIdLst>
    <p:notesMasterId xmlns:r="http://schemas.openxmlformats.org/officeDocument/2006/relationships" r:id="Rda829d647a4a4446"/>
  </p:notesMasterIdLst>
  <p:sldIdLst>
    <p:sldId xmlns:r="http://schemas.openxmlformats.org/officeDocument/2006/relationships" id="256" r:id="R9d45c6c9b89647d0"/>
    <p:sldId xmlns:r="http://schemas.openxmlformats.org/officeDocument/2006/relationships" id="257" r:id="R3c5e23acc2264d4a"/>
    <p:sldId xmlns:r="http://schemas.openxmlformats.org/officeDocument/2006/relationships" id="258" r:id="R623c78e1b1ea4f3d"/>
    <p:sldId xmlns:r="http://schemas.openxmlformats.org/officeDocument/2006/relationships" id="259" r:id="Rb698886224a24735"/>
    <p:sldId xmlns:r="http://schemas.openxmlformats.org/officeDocument/2006/relationships" id="260" r:id="R00d49fa5667849cb"/>
    <p:sldId xmlns:r="http://schemas.openxmlformats.org/officeDocument/2006/relationships" id="261" r:id="R0647c08a0dd7444c"/>
    <p:sldId xmlns:r="http://schemas.openxmlformats.org/officeDocument/2006/relationships" id="262" r:id="R72a06317dd68454e"/>
    <p:sldId xmlns:r="http://schemas.openxmlformats.org/officeDocument/2006/relationships" id="263" r:id="Rb9c9971b019b4869"/>
    <p:sldId xmlns:r="http://schemas.openxmlformats.org/officeDocument/2006/relationships" id="264" r:id="Ra8c217be0c39456e"/>
    <p:sldId xmlns:r="http://schemas.openxmlformats.org/officeDocument/2006/relationships" id="265" r:id="R81e7cc299dd64043"/>
    <p:sldId xmlns:r="http://schemas.openxmlformats.org/officeDocument/2006/relationships" id="266" r:id="R0413fd1ebb0c473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e5547da5b440d1" /><Relationship Type="http://schemas.openxmlformats.org/officeDocument/2006/relationships/slideMaster" Target="/ppt/slideMasters/slideMaster1.xml" Id="Rb02c8cf5a020433f" /><Relationship Type="http://schemas.openxmlformats.org/officeDocument/2006/relationships/notesMaster" Target="/ppt/notesMasters/notesMaster1.xml" Id="Rda829d647a4a4446" /><Relationship Type="http://schemas.openxmlformats.org/officeDocument/2006/relationships/presProps" Target="/ppt/presProps.xml" Id="R3032c99d00f345f6" /><Relationship Type="http://schemas.openxmlformats.org/officeDocument/2006/relationships/tableStyles" Target="/ppt/tableStyles.xml" Id="R7d7dea07c6bc42da" /><Relationship Type="http://schemas.openxmlformats.org/officeDocument/2006/relationships/slide" Target="/ppt/slides/slide1.xml" Id="R9d45c6c9b89647d0" /><Relationship Type="http://schemas.openxmlformats.org/officeDocument/2006/relationships/slide" Target="/ppt/slides/slide2.xml" Id="R3c5e23acc2264d4a" /><Relationship Type="http://schemas.openxmlformats.org/officeDocument/2006/relationships/slide" Target="/ppt/slides/slide3.xml" Id="R623c78e1b1ea4f3d" /><Relationship Type="http://schemas.openxmlformats.org/officeDocument/2006/relationships/slide" Target="/ppt/slides/slide4.xml" Id="Rb698886224a24735" /><Relationship Type="http://schemas.openxmlformats.org/officeDocument/2006/relationships/slide" Target="/ppt/slides/slide5.xml" Id="R00d49fa5667849cb" /><Relationship Type="http://schemas.openxmlformats.org/officeDocument/2006/relationships/slide" Target="/ppt/slides/slide6.xml" Id="R0647c08a0dd7444c" /><Relationship Type="http://schemas.openxmlformats.org/officeDocument/2006/relationships/slide" Target="/ppt/slides/slide7.xml" Id="R72a06317dd68454e" /><Relationship Type="http://schemas.openxmlformats.org/officeDocument/2006/relationships/slide" Target="/ppt/slides/slide8.xml" Id="Rb9c9971b019b4869" /><Relationship Type="http://schemas.openxmlformats.org/officeDocument/2006/relationships/slide" Target="/ppt/slides/slide9.xml" Id="Ra8c217be0c39456e" /><Relationship Type="http://schemas.openxmlformats.org/officeDocument/2006/relationships/slide" Target="/ppt/slides/slide10.xml" Id="R81e7cc299dd64043" /><Relationship Type="http://schemas.openxmlformats.org/officeDocument/2006/relationships/slide" Target="/ppt/slides/slide11.xml" Id="R0413fd1ebb0c47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d558d9e70e48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85ec55f590456d" /><Relationship Type="http://schemas.openxmlformats.org/officeDocument/2006/relationships/notesMaster" Target="/ppt/notesMasters/notesMaster1.xml" Id="Rff6d849b893740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d3e24cd543492c" /><Relationship Type="http://schemas.openxmlformats.org/officeDocument/2006/relationships/notesMaster" Target="/ppt/notesMasters/notesMaster1.xml" Id="R925e611650e047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161b5a79d44fff" /><Relationship Type="http://schemas.openxmlformats.org/officeDocument/2006/relationships/notesMaster" Target="/ppt/notesMasters/notesMaster1.xml" Id="R8291dca97cf74f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1e6f187888d4e39" /><Relationship Type="http://schemas.openxmlformats.org/officeDocument/2006/relationships/notesMaster" Target="/ppt/notesMasters/notesMaster1.xml" Id="R6a662aef831c49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035f6f4dbef4a6c" /><Relationship Type="http://schemas.openxmlformats.org/officeDocument/2006/relationships/notesMaster" Target="/ppt/notesMasters/notesMaster1.xml" Id="R691d5c86ce7848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2d6b78be1db4bb6" /><Relationship Type="http://schemas.openxmlformats.org/officeDocument/2006/relationships/notesMaster" Target="/ppt/notesMasters/notesMaster1.xml" Id="R55682ccd9b3348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7168854015f4b05" /><Relationship Type="http://schemas.openxmlformats.org/officeDocument/2006/relationships/notesMaster" Target="/ppt/notesMasters/notesMaster1.xml" Id="R38ae1a73f2d3467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a656499dd64df7" /><Relationship Type="http://schemas.openxmlformats.org/officeDocument/2006/relationships/notesMaster" Target="/ppt/notesMasters/notesMaster1.xml" Id="R3b1a0508cfc243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b49e209fd544b31" /><Relationship Type="http://schemas.openxmlformats.org/officeDocument/2006/relationships/notesMaster" Target="/ppt/notesMasters/notesMaster1.xml" Id="R28e8216f188a414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7b35d4e0aa4460" /><Relationship Type="http://schemas.openxmlformats.org/officeDocument/2006/relationships/notesMaster" Target="/ppt/notesMasters/notesMaster1.xml" Id="R63d1c3ba19ca4e8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f5ce036ef744e5c" /><Relationship Type="http://schemas.openxmlformats.org/officeDocument/2006/relationships/notesMaster" Target="/ppt/notesMasters/notesMaster1.xml" Id="Rff6e1313afbb42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ca03374f2345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414672492844f3c" /><Relationship Type="http://schemas.openxmlformats.org/officeDocument/2006/relationships/slideLayout" Target="/ppt/slideLayouts/slideLayout1.xml" Id="R384fe94b3e0d47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4fe94b3e0d47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f049a1ce1402d" /><Relationship Type="http://schemas.openxmlformats.org/officeDocument/2006/relationships/image" Target="/ppt/media/image.png" Id="R831d9d5a225a4a3d" /><Relationship Type="http://schemas.openxmlformats.org/officeDocument/2006/relationships/notesSlide" Target="/ppt/notesSlides/notesSlide1.xml" Id="R27b6f8279b504a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8e356f6684649" /><Relationship Type="http://schemas.openxmlformats.org/officeDocument/2006/relationships/notesSlide" Target="/ppt/notesSlides/notesSlide2.xml" Id="Rcb7c5aaf42fd44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dc7e8ee798423a" /><Relationship Type="http://schemas.openxmlformats.org/officeDocument/2006/relationships/notesSlide" Target="/ppt/notesSlides/notesSlide3.xml" Id="R85c20a42bfba4d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e10a05da74314" /><Relationship Type="http://schemas.openxmlformats.org/officeDocument/2006/relationships/notesSlide" Target="/ppt/notesSlides/notesSlide4.xml" Id="R9f760673e39e45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e86bfaf0394d44" /><Relationship Type="http://schemas.openxmlformats.org/officeDocument/2006/relationships/notesSlide" Target="/ppt/notesSlides/notesSlide5.xml" Id="R3f838319107341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4935b9c82643cb" /><Relationship Type="http://schemas.openxmlformats.org/officeDocument/2006/relationships/notesSlide" Target="/ppt/notesSlides/notesSlide6.xml" Id="R2d7e0dd5c163459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1520365a504e67" /><Relationship Type="http://schemas.openxmlformats.org/officeDocument/2006/relationships/notesSlide" Target="/ppt/notesSlides/notesSlide7.xml" Id="Rde1a500fb41948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436567095f48b3" /><Relationship Type="http://schemas.openxmlformats.org/officeDocument/2006/relationships/notesSlide" Target="/ppt/notesSlides/notesSlide8.xml" Id="Re855acfe42914d5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83fdfb28fa45e7" /><Relationship Type="http://schemas.openxmlformats.org/officeDocument/2006/relationships/notesSlide" Target="/ppt/notesSlides/notesSlide9.xml" Id="Rbe25b226ec264a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d5f7cb2aa24c91" /><Relationship Type="http://schemas.openxmlformats.org/officeDocument/2006/relationships/notesSlide" Target="/ppt/notesSlides/notesSlide10.xml" Id="R96edb40ce974467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5b13f3e6954497" /><Relationship Type="http://schemas.openxmlformats.org/officeDocument/2006/relationships/image" Target="/ppt/media/image2.png" Id="R8f1c52235fba44ee" /><Relationship Type="http://schemas.openxmlformats.org/officeDocument/2006/relationships/notesSlide" Target="/ppt/notesSlides/notesSlide11.xml" Id="Ra943fb91419b42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1d9d5a225a4a3d"/>
          <a:stretch xmlns:a="http://schemas.openxmlformats.org/drawingml/2006/main"/>
        </p:blipFill>
        <p:spPr>
          <a:xfrm xmlns:a="http://schemas.openxmlformats.org/drawingml/2006/main">
            <a:off x="666750" y="612775"/>
            <a:ext cx="1866900" cy="622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F0C837-2642-4B75-8379-D2C2BDA9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0201A"/>
                </a:solidFill>
              </a:defRPr>
            </a:pPr>
            <a:r>
              <a:rPr sz="4050" b="1">
                <a:solidFill>
                  <a:srgbClr val="10201A"/>
                </a:solidFill>
              </a:rPr>
              <a:t>观息 SenseLoop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266D7C-CC4B-4B03-B7EC-A596DF38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590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87068"/>
                </a:solidFill>
              </a:defRPr>
            </a:pPr>
            <a:r>
              <a:rPr sz="2100" b="0">
                <a:solidFill>
                  <a:srgbClr val="587068"/>
                </a:solidFill>
              </a:rPr>
              <a:t>每天早晨，把夜间身体信号变成今日行动建议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D91E55-D13C-4077-9539-50C9A1A0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2381250" cy="34290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DFF6EA"/>
          </a:solidFill>
          <a:ln xmlns:a="http://schemas.openxmlformats.org/drawingml/2006/main" w="9525">
            <a:solidFill>
              <a:srgbClr val="DFF6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4D72C0-62E2-4BAD-88BF-97AF095A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2076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01A"/>
                </a:solidFill>
              </a:defRPr>
            </a:pPr>
            <a:r>
              <a:rPr sz="1125" b="1">
                <a:solidFill>
                  <a:srgbClr val="10201A"/>
                </a:solidFill>
              </a:rPr>
              <a:t>soundcore Work 夜间声音原型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4F3853-6168-4C0C-AC18-881A322A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52850"/>
            <a:ext cx="2190750" cy="34290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852982-D2A1-4F88-BFDE-5566DEC3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829050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01A"/>
                </a:solidFill>
              </a:defRPr>
            </a:pPr>
            <a:r>
              <a:rPr sz="1125" b="1">
                <a:solidFill>
                  <a:srgbClr val="10201A"/>
                </a:solidFill>
              </a:rPr>
              <a:t>未来健康穿戴新品类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20CD67-6714-4CFD-9B14-4815B617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257300"/>
            <a:ext cx="352425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DFF6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483803-0B13-4691-AC2B-21F93128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86050"/>
            <a:ext cx="352425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23A935-7911-4053-9B21-FFB1F522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114800"/>
            <a:ext cx="352425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32055D-9A49-4ABF-B799-BFF871B9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466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8A169"/>
                </a:solidFill>
              </a:defRPr>
            </a:pPr>
            <a:r>
              <a:rPr sz="2025" b="1">
                <a:solidFill>
                  <a:srgbClr val="38A169"/>
                </a:solidFill>
              </a:rPr>
              <a:t>夜间声音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B36A9B-052F-4668-93DE-ACA840D5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80975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打鼾 / 咳嗽 / 起夜 / 噪声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9E2F64-092D-485B-A7F3-84020C0E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8956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B82F6"/>
                </a:solidFill>
              </a:defRPr>
            </a:pPr>
            <a:r>
              <a:rPr sz="2025" b="1">
                <a:solidFill>
                  <a:srgbClr val="3B82F6"/>
                </a:solidFill>
              </a:rPr>
              <a:t>身体信号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41094-F5B8-442C-BB26-EDCE8BC3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23850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画像 / 饮食 / 排便 / 舌苔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2A873C-B054-4B83-8B12-B1188CB9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3243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7918"/>
                </a:solidFill>
              </a:defRPr>
            </a:pPr>
            <a:r>
              <a:rPr sz="2025" b="1">
                <a:solidFill>
                  <a:srgbClr val="C87918"/>
                </a:solidFill>
              </a:rPr>
              <a:t>今日建议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72AC37-6BEF-40A1-A4E9-916378C7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66725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怎么吃 / 怎么动 / 怎么恢复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16F79A-9F6A-4682-8040-BC277FF0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171700"/>
            <a:ext cx="152400" cy="4762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377A8F-4C1C-4D76-8AEF-680B92A0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00450"/>
            <a:ext cx="152400" cy="4762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90BF04-314A-4237-9DDE-4979AB66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Anker 黑客松预选答辩材料</a:t>
            </a:r>
          </a:p>
        </p:txBody>
      </p:sp>
    </p:spTree>
    <p:extLst>
      <p:ext uri="{BB962C8B-B14F-4D97-AF65-F5344CB8AC3E}">
        <p14:creationId xmlns:p14="http://schemas.microsoft.com/office/powerpoint/2010/main" val="15282409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BB4B1F-1F23-41B3-A540-C1296205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用户不缺健康数据，缺的是今天该怎么做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ECC985-D4AB-4CA0-83AE-7BFE6FFC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睡眠、饮食、排便、舌苔、口气都在发信号，但普通用户很难把它们连起来。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2A37A0-D52B-43C7-9C65-16D1FD6C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77C260-0DCB-4D74-A64E-F4AC4297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3238500" cy="333375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A1B4E4-9AE5-4077-994A-72A31E19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01A"/>
                </a:solidFill>
              </a:defRPr>
            </a:pPr>
            <a:r>
              <a:rPr sz="1875" b="1">
                <a:solidFill>
                  <a:srgbClr val="10201A"/>
                </a:solidFill>
              </a:rPr>
              <a:t>身体信号很零散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CD9F4-2579-400F-84EE-36D5C792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67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A45AF2-018D-46C4-A940-6D6F8D4A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8130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打鼾、咳嗽、起夜、口干、便秘、舌苔变化，单独看都像小事。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464A8A-D927-4B1F-A72E-4BBF765E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86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ED733A-7E43-4E82-B701-F82AF816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0045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连续出现时，它们可能已经在提醒用户调整生活方式。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372B2-BAD2-4774-AECE-CB0D5FA3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09750"/>
            <a:ext cx="3238500" cy="333375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5FBF7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203E51-15FD-4597-972E-DB399E35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7645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01A"/>
                </a:solidFill>
              </a:defRPr>
            </a:pPr>
            <a:r>
              <a:rPr sz="1875" b="1">
                <a:solidFill>
                  <a:srgbClr val="10201A"/>
                </a:solidFill>
              </a:rPr>
              <a:t>健康 App 停在报告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E2035E-0255-48E1-8828-FEAAA5C7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67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6AEE8C-F878-460A-AD4D-6F31BA7C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8130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睡眠分数、步数、心率、卡路里很常见。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C7E97A-EE85-4140-B1D2-94C294E9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86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A6E249-FDD8-425A-BFA0-94934A81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0045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用户真正想知道的是咖啡、运动、饮食和恢复怎么安排。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B8778C-5DB6-46A8-BE79-ABDB022B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3238500" cy="333375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09987B-B159-43C4-A868-AB074FF3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7645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01A"/>
                </a:solidFill>
              </a:defRPr>
            </a:pPr>
            <a:r>
              <a:rPr sz="1875" b="1">
                <a:solidFill>
                  <a:srgbClr val="10201A"/>
                </a:solidFill>
              </a:rPr>
              <a:t>私密小问题没人持续看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482839-CAA7-4C5A-9667-435F99EA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67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F6B373-9786-42D3-9FBE-ACAEBC8D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8130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排便、口气、舌苔、睡眠差不一定立刻就医。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7E9952-B270-48CE-8031-B38F1402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86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E132B4-94A1-4F75-94B6-89D39C66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0045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但这些高频问题每天影响状态，也最适合做趋势观察。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78D4F5-E15E-422E-AA94-A5892B3E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72125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8A169"/>
                </a:solidFill>
              </a:defRPr>
            </a:pPr>
            <a:r>
              <a:rPr sz="1800" b="1">
                <a:solidFill>
                  <a:srgbClr val="38A169"/>
                </a:solidFill>
              </a:rPr>
              <a:t>SenseLoop 的切入点：把身体每天释放的细微信号，翻译成用户能执行的一天计划。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6F37F9-C9AA-4D04-9F84-CB6B60B5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ADF85F-36E7-4A89-BBE6-D9AE6A12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806163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52E9F9-5BB4-4CC3-AB27-38706A6C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当前 MVP 先跑通一个最硬的闭环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DEDC14-5C31-46E5-ADFC-4E9F510E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夜间声音是高频、自然、贴合 soundcore Work 的真实入口。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CE941D-17E0-47F3-AFAD-AFCAF6DC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E6CAB-1B5D-4D98-9DF5-0D9D68C4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2266950" cy="1771650"/>
          </a:xfrm>
          <a:prstGeom xmlns:a="http://schemas.openxmlformats.org/drawingml/2006/main" prst="roundRect">
            <a:avLst>
              <a:gd name="adj" fmla="val 5376"/>
            </a:avLst>
          </a:prstGeom>
          <a:solidFill xmlns:a="http://schemas.openxmlformats.org/drawingml/2006/main">
            <a:srgbClr val="DFF6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75307-C200-4058-8A2B-E8C191A9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01A"/>
                </a:solidFill>
              </a:defRPr>
            </a:pPr>
            <a:r>
              <a:rPr sz="1725" b="1">
                <a:solidFill>
                  <a:srgbClr val="10201A"/>
                </a:solidFill>
              </a:rPr>
              <a:t>soundcore 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556BD-768C-4294-987E-1E0B9CB3F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9085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采集打鼾、咳嗽、起夜、环境噪声与重点标记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B6943-6F21-4DA1-BC8B-D0BD16D0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00375"/>
            <a:ext cx="3429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8C0206-F583-40A5-81D3-0614BCBA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90750"/>
            <a:ext cx="2266950" cy="1771650"/>
          </a:xfrm>
          <a:prstGeom xmlns:a="http://schemas.openxmlformats.org/drawingml/2006/main" prst="roundRect">
            <a:avLst>
              <a:gd name="adj" fmla="val 5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F5796B-F940-4CCC-93F9-55303566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7650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01A"/>
                </a:solidFill>
              </a:defRPr>
            </a:pPr>
            <a:r>
              <a:rPr sz="1725" b="1">
                <a:solidFill>
                  <a:srgbClr val="10201A"/>
                </a:solidFill>
              </a:rPr>
              <a:t>身体信号理解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861DBE-0799-443C-84D2-C6CD6327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9085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把夜间事件与画像、饮食、排便、舌苔、口气关联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D25BE0-6529-4E97-B016-E3C32156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000375"/>
            <a:ext cx="3429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B2762C-4427-4801-9E35-8F6EE8D8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90750"/>
            <a:ext cx="2266950" cy="1771650"/>
          </a:xfrm>
          <a:prstGeom xmlns:a="http://schemas.openxmlformats.org/drawingml/2006/main" prst="roundRect">
            <a:avLst>
              <a:gd name="adj" fmla="val 5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D8003F-068E-4CC6-AC76-2BFE1304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7650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01A"/>
                </a:solidFill>
              </a:defRPr>
            </a:pPr>
            <a:r>
              <a:rPr sz="1725" b="1">
                <a:solidFill>
                  <a:srgbClr val="10201A"/>
                </a:solidFill>
              </a:rPr>
              <a:t>晨间健康日报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393FEB-7B3F-427F-9BD5-305D9752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9085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生成今天怎么吃、怎么动、怎么恢复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2636A-EE5F-4F25-BF50-64F7AD6C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00375"/>
            <a:ext cx="3429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6DF5B8-185F-49FB-BFFB-7734F570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90750"/>
            <a:ext cx="2266950" cy="1771650"/>
          </a:xfrm>
          <a:prstGeom xmlns:a="http://schemas.openxmlformats.org/drawingml/2006/main" prst="roundRect">
            <a:avLst>
              <a:gd name="adj" fmla="val 5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26FCFD-AC59-4A7D-91F2-00D0716B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7650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01A"/>
                </a:solidFill>
              </a:defRPr>
            </a:pPr>
            <a:r>
              <a:rPr sz="1725" b="1">
                <a:solidFill>
                  <a:srgbClr val="10201A"/>
                </a:solidFill>
              </a:rPr>
              <a:t>长期穿戴演进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CECA3F-DEDB-49A0-8140-1EE05C48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9085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扩展到 Watch / Band / Pendant 多模态信号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83D449-DB76-4F07-9CC7-E58FD579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762500"/>
            <a:ext cx="981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201A"/>
                </a:solidFill>
              </a:defRPr>
            </a:pPr>
            <a:r>
              <a:rPr sz="2025" b="1">
                <a:solidFill>
                  <a:srgbClr val="10201A"/>
                </a:solidFill>
              </a:rPr>
              <a:t>产品价值不止是“昨晚发生了什么”，而是让用户早上打开就知道“今天应该怎么做”。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77B1C4-9B5E-46B8-8AC3-10F8BA2C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3DA292-FB8E-4958-94D0-96A908F6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02625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26DEB9-29F2-486E-B513-BA0A65C3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用 Anker 硬件重新解释“望闻问切”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D56AEC-7EB5-419E-9FA7-859063CC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当前聚焦真实可演示的“闻 + 问”，同时保留未来穿戴硬件空间。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517136-82C0-4C26-897B-05677F97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3E4324-FBBF-4E12-89F6-0721A4A4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10287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DFF6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CD78B-AD63-43CB-83D6-ADE6AE60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0201A"/>
                </a:solidFill>
              </a:defRPr>
            </a:pPr>
            <a:r>
              <a:rPr sz="2550" b="1">
                <a:solidFill>
                  <a:srgbClr val="10201A"/>
                </a:solidFill>
              </a:rPr>
              <a:t>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085CD7-B6C2-4C33-9CEA-3E36450F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8288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01A"/>
                </a:solidFill>
              </a:defRPr>
            </a:pPr>
            <a:r>
              <a:rPr sz="1650" b="1">
                <a:solidFill>
                  <a:srgbClr val="10201A"/>
                </a:solidFill>
              </a:rPr>
              <a:t>soundcore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C2886E-8448-4AA2-85A6-12B63E0B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28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87068"/>
                </a:solidFill>
              </a:defRPr>
            </a:pPr>
            <a:r>
              <a:rPr sz="1575" b="0">
                <a:solidFill>
                  <a:srgbClr val="587068"/>
                </a:solidFill>
              </a:rPr>
              <a:t>夜间声音、打鼾、咳嗽、起夜、重点标记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315433-737C-4086-B4D7-813CFEF8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0287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486A86-D96C-41C5-A464-03D957C3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0201A"/>
                </a:solidFill>
              </a:defRPr>
            </a:pPr>
            <a:r>
              <a:rPr sz="2550" b="1">
                <a:solidFill>
                  <a:srgbClr val="10201A"/>
                </a:solidFill>
              </a:rPr>
              <a:t>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220452-EA2F-4C0C-B94D-DAB61AFA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8384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01A"/>
                </a:solidFill>
              </a:defRPr>
            </a:pPr>
            <a:r>
              <a:rPr sz="1650" b="1">
                <a:solidFill>
                  <a:srgbClr val="10201A"/>
                </a:solidFill>
              </a:rPr>
              <a:t>App 输入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46B6E-E5A4-42FC-B7F7-EC626E16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3845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87068"/>
                </a:solidFill>
              </a:defRPr>
            </a:pPr>
            <a:r>
              <a:rPr sz="1575" b="0">
                <a:solidFill>
                  <a:srgbClr val="587068"/>
                </a:solidFill>
              </a:rPr>
              <a:t>用户画像、睡前/醒后反馈、饮食与排便记录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F5A811-A0A4-4D07-9E01-9862F58C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10287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37A136-7C2B-4772-BFE4-72871B6B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290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0201A"/>
                </a:solidFill>
              </a:defRPr>
            </a:pPr>
            <a:r>
              <a:rPr sz="2550" b="1">
                <a:solidFill>
                  <a:srgbClr val="10201A"/>
                </a:solidFill>
              </a:rPr>
              <a:t>望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059944-6F8B-4EF3-9A91-6F208D63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8481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01A"/>
                </a:solidFill>
              </a:defRPr>
            </a:pPr>
            <a:r>
              <a:rPr sz="1650" b="1">
                <a:solidFill>
                  <a:srgbClr val="10201A"/>
                </a:solidFill>
              </a:rPr>
              <a:t>手机拍照 / eufy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B5FB42-B0C8-48DD-BA5F-AB4C26B0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481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87068"/>
                </a:solidFill>
              </a:defRPr>
            </a:pPr>
            <a:r>
              <a:rPr sz="1575" b="0">
                <a:solidFill>
                  <a:srgbClr val="587068"/>
                </a:solidFill>
              </a:rPr>
              <a:t>饮食、舌苔、非隐私生活状态观察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B7B6CE-0FD3-4ADF-8216-C24A746B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0287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DEC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C48C84-65C4-4E74-ABC9-5C7C7995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3870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0201A"/>
                </a:solidFill>
              </a:defRPr>
            </a:pPr>
            <a:r>
              <a:rPr sz="2550" b="1">
                <a:solidFill>
                  <a:srgbClr val="10201A"/>
                </a:solidFill>
              </a:rPr>
              <a:t>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CE0C16-17D2-453A-838D-1DF7A268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8577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01A"/>
                </a:solidFill>
              </a:defRPr>
            </a:pPr>
            <a:r>
              <a:rPr sz="1650" b="1">
                <a:solidFill>
                  <a:srgbClr val="10201A"/>
                </a:solidFill>
              </a:rPr>
              <a:t>模拟 / 未来传感器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E552D7-0167-4A75-BE99-ABB6FA18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85775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87068"/>
                </a:solidFill>
              </a:defRPr>
            </a:pPr>
            <a:r>
              <a:rPr sz="1575" b="0">
                <a:solidFill>
                  <a:srgbClr val="587068"/>
                </a:solidFill>
              </a:rPr>
              <a:t>心率、脉搏、血压、运动、血氧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182317-3C48-40A2-80D6-C8771801A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92455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01A"/>
                </a:solidFill>
              </a:defRPr>
            </a:pPr>
            <a:r>
              <a:rPr sz="1650" b="1">
                <a:solidFill>
                  <a:srgbClr val="10201A"/>
                </a:solidFill>
              </a:rPr>
              <a:t>边界很清楚：不做医疗诊断，不自动拍摄隐私内容，敏感数据必须用户主动触发。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414FB1-E38D-4DFF-B7B1-381B9A0B2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BCABF4-A2C1-45FF-90D6-CB1C02DC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531821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D23513-3C60-4C34-B614-4B0124F6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Demo 已经覆盖六个关键页面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5FE2C1-3802-4041-9D57-C30C4146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前端不是静态海报，而是围绕五类用户画像与报告生成闭环设计。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D2718B-6143-4F63-A884-6153D658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99B0DD-86AD-455B-8FD1-220FD518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314325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A35B82-344A-4BE4-9328-087EBC7A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812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首页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FBF6F6-4192-44D1-B8C2-8FF0F8CD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今日状态、恢复分、四诊完成度、今日建议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F24A28-3D59-4469-98C6-0D0DC5A1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52600"/>
            <a:ext cx="314325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D78607-F448-40CA-88A6-70D321E5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812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睡眠页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BD1897-5316-40A7-A98F-608F8A9D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6220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声音时间线、打鼾/咳嗽/起夜、重点标记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DF5D1E-B94E-4C1A-B338-00B4CD00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4325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4C0A24-5D12-45D4-B461-7C2C3E0E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812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饮食页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15418F-90CD-4A70-B9AA-744B3EBE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6220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拍照入口、kcal 区间估算、用户修正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CDE387-8162-47CD-B802-E8C6B5A7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71850"/>
            <a:ext cx="314325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5D2599-3531-4E54-BC79-28B32568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004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信号页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4F249-181E-4A0E-9C72-C50F3056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814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排便、舌苔、口气记录与隐私边界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4276A4-C408-43B2-9B14-9C66AFC6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71850"/>
            <a:ext cx="314325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C046C3-E75B-47AA-B29A-CFE6704F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004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日报页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B4B078-028F-4DAD-8B55-D8C6D391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814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五类用户画像下的个性化行动建议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81EC3A-A093-4BBF-9B7B-5D32C745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71850"/>
            <a:ext cx="314325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9621FD-AC47-41AD-9149-1E13E7EC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004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架构页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5447F6-1F6C-44CC-B8D2-1C52317B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soundcore Work 原型到未来穿戴演进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685A41-35E7-4053-AFA0-EFA64208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38800"/>
            <a:ext cx="752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在线 Demo：https://13-57-166-217.sslip.io/senseloop/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D574E8-EC2C-4D84-8453-A4DB0BA3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04C0B1-B991-4798-964D-09CDCD1C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670443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627CA7-AC40-47D9-8356-A71D98C0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技术架构按“可跑通、可替换、可增强”设计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8D3D75-FAD7-4CEE-8378-1A3A4A45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没有 SDK 时用 mock adapter 稳定演示，拿到 SDK 后替换采集层即可。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43DCC2-9EF7-4B48-BCC7-B61C7035D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E15A7-6439-47E1-A1FA-ACC31841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619250"/>
            <a:ext cx="962025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DFF6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A6450-F161-4A87-BD26-472F91F2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7621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01A"/>
                </a:solidFill>
              </a:defRPr>
            </a:pPr>
            <a:r>
              <a:rPr sz="1575" b="1">
                <a:solidFill>
                  <a:srgbClr val="10201A"/>
                </a:solidFill>
              </a:rPr>
              <a:t>采集适配层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A0FF92-5FC8-419E-A810-4A40D082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762125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soundcore Work / 上传音频 / App 输入 / eufy placeholder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B7DD3A-42A4-4084-95E1-C03B2734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00275"/>
            <a:ext cx="152400" cy="1619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DB0154-BDEA-4F0A-8941-773DBFF2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400300"/>
            <a:ext cx="962025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DB4FF-5FCD-483C-A2E3-00B2E3A1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5431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01A"/>
                </a:solidFill>
              </a:defRPr>
            </a:pPr>
            <a:r>
              <a:rPr sz="1575" b="1">
                <a:solidFill>
                  <a:srgbClr val="10201A"/>
                </a:solidFill>
              </a:rPr>
              <a:t>信号标签层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CB86FF-B229-4282-8858-AFF297BE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43175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SleepAudioEvent、DietSignal、StoolSignal、TongueSignal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BDF8B6-B33F-45E6-8C78-E498426E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81325"/>
            <a:ext cx="152400" cy="1619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AF94FB-E0D6-4FD0-A3C7-FFF5E29A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181350"/>
            <a:ext cx="962025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44AED1-A68F-485E-879F-AD098152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3242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01A"/>
                </a:solidFill>
              </a:defRPr>
            </a:pPr>
            <a:r>
              <a:rPr sz="1575" b="1">
                <a:solidFill>
                  <a:srgbClr val="10201A"/>
                </a:solidFill>
              </a:rPr>
              <a:t>知识库规则层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ECC992-BBCC-4B8B-8888-4AE015B5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24225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睡眠、饮食、减脂、排便、舌苔、运动恢复规则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92C950-B0FF-4E09-A996-0C619062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62375"/>
            <a:ext cx="152400" cy="1619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04B0EB-B2AC-4CF5-842D-4A6D46C7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962400"/>
            <a:ext cx="962025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C77E17-A6AF-4B8D-9238-A5CA9B79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1052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01A"/>
                </a:solidFill>
              </a:defRPr>
            </a:pPr>
            <a:r>
              <a:rPr sz="1575" b="1">
                <a:solidFill>
                  <a:srgbClr val="10201A"/>
                </a:solidFill>
              </a:rPr>
              <a:t>报告生成层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D784BF-4CD6-43F3-AE2F-8AD3445A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105275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用户画像 + 多模态信号 -&gt; 今日行动建议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41BD28-554A-4D83-B7D6-9DB606B1C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543425"/>
            <a:ext cx="152400" cy="1619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41CEC7-2D85-479A-B880-0A3891C9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743450"/>
            <a:ext cx="962025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308A8D-ED55-4925-9FBC-D9848F57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863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01A"/>
                </a:solidFill>
              </a:defRPr>
            </a:pPr>
            <a:r>
              <a:rPr sz="1575" b="1">
                <a:solidFill>
                  <a:srgbClr val="10201A"/>
                </a:solidFill>
              </a:rPr>
              <a:t>展示层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F371D2-2D1E-4A25-8C76-92A7CEF3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86325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React App、Python API、在线 Demo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07E5D3-171F-4029-A4E5-EDDAF6DB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2EABDE-C1BD-4121-899C-A541DFFA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672358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FBEDB8-C823-4480-837A-D7035D42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同一夜间事件，会因为用户画像生成不同建议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24C4BC-4F72-4424-B1CD-7CECF388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这让 SenseLoop 从模板报告变成个性化健康行动助手。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30EBFA-35CD-4540-A001-2464D112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0B4394-1CB9-42A7-A7AF-83146474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573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8A169"/>
                </a:solidFill>
              </a:defRPr>
            </a:pPr>
            <a:r>
              <a:rPr sz="1650" b="1">
                <a:solidFill>
                  <a:srgbClr val="38A169"/>
                </a:solidFill>
              </a:rPr>
              <a:t>减脂人群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4749AF-BB6D-4B8E-8246-0A9ACB65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600200"/>
            <a:ext cx="3524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关注 kcal、排便、水肿和训练强度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CDF79E-F129-45FF-B0DA-7B1E62EC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24000"/>
            <a:ext cx="47625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8EDDAA-978C-4E48-850A-59CE0A0D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8592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01A"/>
                </a:solidFill>
              </a:defRPr>
            </a:pPr>
            <a:r>
              <a:rPr sz="1500" b="1">
                <a:solidFill>
                  <a:srgbClr val="10201A"/>
                </a:solidFill>
              </a:rPr>
              <a:t>今天轻控热量，不建议硬扛高强度训练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63753C-9866-46A5-9143-D2283B95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14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8A169"/>
                </a:solidFill>
              </a:defRPr>
            </a:pPr>
            <a:r>
              <a:rPr sz="1650" b="1">
                <a:solidFill>
                  <a:srgbClr val="38A169"/>
                </a:solidFill>
              </a:rPr>
              <a:t>老年人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92C6D2-695B-4428-957C-3045C01B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57450"/>
            <a:ext cx="3524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关注夜间咳嗽、起夜、饮食清淡和家人关怀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E9DE28-ED8A-4AF4-B7CC-88908814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81250"/>
            <a:ext cx="47625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80D7AA-310F-47D6-A5E3-8100D505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4317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01A"/>
                </a:solidFill>
              </a:defRPr>
            </a:pPr>
            <a:r>
              <a:rPr sz="1500" b="1">
                <a:solidFill>
                  <a:srgbClr val="10201A"/>
                </a:solidFill>
              </a:rPr>
              <a:t>今天以清淡饮食和低强度活动为主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146584-6DC4-4FF1-BF8E-E6153D82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8A169"/>
                </a:solidFill>
              </a:defRPr>
            </a:pPr>
            <a:r>
              <a:rPr sz="1650" b="1">
                <a:solidFill>
                  <a:srgbClr val="38A169"/>
                </a:solidFill>
              </a:rPr>
              <a:t>上班族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AFAF59-262A-4FFD-896A-60D2AB72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14700"/>
            <a:ext cx="3524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关注睡眠债、咖啡因、外卖和肠胃负担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DAD4C1-A4ED-48FF-821B-E532D078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47625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54DEAD-94CF-46C3-8B96-1229EE6A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0042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01A"/>
                </a:solidFill>
              </a:defRPr>
            </a:pPr>
            <a:r>
              <a:rPr sz="1500" b="1">
                <a:solidFill>
                  <a:srgbClr val="10201A"/>
                </a:solidFill>
              </a:rPr>
              <a:t>今天先恢复，不要用咖啡和重训硬撑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773853-D3AB-4C3F-B1A6-1C07AEF4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8A169"/>
                </a:solidFill>
              </a:defRPr>
            </a:pPr>
            <a:r>
              <a:rPr sz="1650" b="1">
                <a:solidFill>
                  <a:srgbClr val="38A169"/>
                </a:solidFill>
              </a:rPr>
              <a:t>学生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967627-40EC-414D-971B-D9B91A6B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171950"/>
            <a:ext cx="3524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关注早餐、营养、专注和作息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93921F-46B8-4172-B7A4-B3D536DF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7625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6EF2E3-B1D5-4507-9F2F-EF932097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5767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01A"/>
                </a:solidFill>
              </a:defRPr>
            </a:pPr>
            <a:r>
              <a:rPr sz="1500" b="1">
                <a:solidFill>
                  <a:srgbClr val="10201A"/>
                </a:solidFill>
              </a:rPr>
              <a:t>今天优先补能量、稳专注，减少高糖饮料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3FA295-5782-41B4-828A-881C0D11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863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8A169"/>
                </a:solidFill>
              </a:defRPr>
            </a:pPr>
            <a:r>
              <a:rPr sz="1650" b="1">
                <a:solidFill>
                  <a:srgbClr val="38A169"/>
                </a:solidFill>
              </a:rPr>
              <a:t>失眠人群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1A76D4-68D0-4DFA-A56F-B83A2765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29200"/>
            <a:ext cx="3524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关注夜醒、环境噪声、睡前行为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AC5672-2237-4017-815F-BFF553F8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953000"/>
            <a:ext cx="47625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392225-AA93-4635-AFB3-9011BB79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1492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01A"/>
                </a:solidFill>
              </a:defRPr>
            </a:pPr>
            <a:r>
              <a:rPr sz="1500" b="1">
                <a:solidFill>
                  <a:srgbClr val="10201A"/>
                </a:solidFill>
              </a:rPr>
              <a:t>今天控制午睡，晚上提前进入放松流程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8DBEDA-A6A1-41A8-A7D6-35A95294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BC28D8-F2D1-4F64-9A50-56D3F5E55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1947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09547B-3523-4EE7-9695-960A6CBD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隐私和医疗边界会直接影响评审信任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A24E4B-8769-46B6-9FB1-AD288DF8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健康类产品必须先把不能做什么讲清楚，评委才会相信能落地。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1503B6-78E9-4704-B4FB-E379DF7E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2AB2ED-BBA0-4287-88F2-CC567D01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4953000" cy="3333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57237-1E8F-446B-95CA-32278A35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90700"/>
            <a:ext cx="4953000" cy="3333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E1E060-BC24-4E22-807B-94C01BFB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14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201A"/>
                </a:solidFill>
              </a:defRPr>
            </a:pPr>
            <a:r>
              <a:rPr sz="2025" b="1">
                <a:solidFill>
                  <a:srgbClr val="10201A"/>
                </a:solidFill>
              </a:rPr>
              <a:t>健康表达边界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2C8A71-6BEC-4D08-B753-63152563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71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A8BB13-6E4D-4C01-BAE5-DAB40363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860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不做疾病诊断，不承诺治疗效果。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EB1F36-BF41-494F-B197-F61B35B0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24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36CC33-FD94-42B3-B8A5-B1AEB7F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23850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连续异常只提示继续观察或咨询专业医生。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CE6153-350B-497F-BA40-71DDD306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76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A34664-84D2-43E9-99F1-59E2EBF4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909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原始音频优先本地处理，报告默认展示结构化标签。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836A09-7C27-4EBF-91DD-673F5D8C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291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0C67C9-34E3-4050-9865-D4EAA7B6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4340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排便、舌苔、口气等敏感信号必须用户主动触发。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78A2B4-6B62-46FC-848B-FF2261C8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14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201A"/>
                </a:solidFill>
              </a:defRPr>
            </a:pPr>
            <a:r>
              <a:rPr sz="2025" b="1">
                <a:solidFill>
                  <a:srgbClr val="10201A"/>
                </a:solidFill>
              </a:rPr>
              <a:t>隐私保护边界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461CE4-53E3-48B9-90CE-F43F1677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71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ADD1E0-C458-447A-B502-45B1180C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860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eufy 只用于非隐私视觉场景。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72D7CB-81AE-4126-AEA0-1B337CD6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324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B4B5E4-7BF0-4DDE-8C31-A07D9273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3850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不自动拍摄厕所、大便等敏感画面。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E7BB75-24F1-4126-9C52-E844260E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76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0BE69A-6660-4977-82B7-08AE1C2A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909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家庭共享只展示摘要和趋势。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1648A8-63F3-4BA6-8FF8-65B0B049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4291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4A5FA7-B70B-4C55-970D-A344222D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4340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87068"/>
                </a:solidFill>
              </a:defRPr>
            </a:pPr>
            <a:r>
              <a:rPr sz="1425" b="0">
                <a:solidFill>
                  <a:srgbClr val="587068"/>
                </a:solidFill>
              </a:rPr>
              <a:t>用户可以删除记录，现场可用 mock 数据 fallback。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8B72D7-FC7E-41C6-9898-361F5229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6A66D4-9061-42C1-9B8F-D85A0C22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409129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01A4E2-87B4-4274-B239-6339A0A1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商业化价值来自每天早晨的高频入口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227CF0-955C-4342-9120-07DA3021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它不是普通睡眠 App，也不是复刻 Apple Watch，而是 Anker 可延展的健康穿戴新品类。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5BEADB-5CEA-4292-8FDC-A8B7CD57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14154-7411-4D8E-B61C-44B1464C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47850"/>
            <a:ext cx="4762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DFF6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D6D3CD-40C9-4BED-8DD6-566E730C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76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01A"/>
                </a:solidFill>
              </a:defRPr>
            </a:pPr>
            <a:r>
              <a:rPr sz="1950" b="1">
                <a:solidFill>
                  <a:srgbClr val="10201A"/>
                </a:solidFill>
              </a:rPr>
              <a:t>硬件销售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0041B-390E-4862-9D6A-C06DE31E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SenseLoop Watch / Band / Pendant，承接 soundcore 与 eufy 的能力演进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5FB042-BBD3-4D86-8F66-DC2EDA3A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4762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B9F67-D87A-4DA7-85FD-95CCF63F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76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01A"/>
                </a:solidFill>
              </a:defRPr>
            </a:pPr>
            <a:r>
              <a:rPr sz="1950" b="1">
                <a:solidFill>
                  <a:srgbClr val="10201A"/>
                </a:solidFill>
              </a:rPr>
              <a:t>App 订阅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5592C8-5EF5-4B27-AFEE-9987BB78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955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高级日报、长期趋势、个性化健康建议、减脂与恢复计划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12F09C-B6CE-4AAF-B33E-2E40E451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762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6C8818-2F0A-4B58-B14F-CCF69B96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528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01A"/>
                </a:solidFill>
              </a:defRPr>
            </a:pPr>
            <a:r>
              <a:rPr sz="1950" b="1">
                <a:solidFill>
                  <a:srgbClr val="10201A"/>
                </a:solidFill>
              </a:rPr>
              <a:t>家庭健康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BB9CF9-B99B-41A5-B0C1-3111F453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老人简版报告、家人同步、连续异常提醒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16C2E5-0FB1-43C7-8EF4-26F0E345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24250"/>
            <a:ext cx="4762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7586A7-7686-4B17-A966-7B39726D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01A"/>
                </a:solidFill>
              </a:defRPr>
            </a:pPr>
            <a:r>
              <a:rPr sz="1950" b="1">
                <a:solidFill>
                  <a:srgbClr val="10201A"/>
                </a:solidFill>
              </a:rPr>
              <a:t>服务合作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CD1286-B3A9-4AA6-A461-A594236A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71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营养、运动、睡眠改善、健康管理服务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4AA170-55D1-4A58-8544-7B65115A6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00700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8A169"/>
                </a:solidFill>
              </a:defRPr>
            </a:pPr>
            <a:r>
              <a:rPr sz="1800" b="1">
                <a:solidFill>
                  <a:srgbClr val="38A169"/>
                </a:solidFill>
              </a:rPr>
              <a:t>可卖的不是单个传感器，而是“读懂身体信号并给出今日行动”的长期关系。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34566A-26CE-4BCF-B062-7B3B15C9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3F6096-4012-4B9A-B088-351B50B4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240397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D24D8D-A948-4244-9C45-1C7C8E7C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这不是一次性 Demo，而是一条产品化路线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0F4FD5-648B-4C61-8ECD-CB0C8850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Roadmap 回答的是：现在能演示什么，现场增强什么，比赛后怎样继续落地。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E9D275-7E63-4C8E-8EC4-4A483B254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AB049-16E1-47EC-BDC9-EE7B64BD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2286000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DFF6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8CA109-A761-4086-AB01-99C44DED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574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F28B39-7E1C-43DE-A893-5D38AE65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33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01A"/>
                </a:solidFill>
              </a:defRPr>
            </a:pPr>
            <a:r>
              <a:rPr sz="1875" b="1">
                <a:solidFill>
                  <a:srgbClr val="10201A"/>
                </a:solidFill>
              </a:rPr>
              <a:t>预选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9CC21-DF6A-4032-8116-CCC7935DF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mock 数据 + 前端闭环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5A81D0-B78C-4538-A0B5-F7DA708A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385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201A"/>
                </a:solidFill>
              </a:defRPr>
            </a:pPr>
            <a:r>
              <a:rPr sz="1275" b="0">
                <a:solidFill>
                  <a:srgbClr val="10201A"/>
                </a:solidFill>
              </a:rPr>
              <a:t>证明夜间声音到晨间建议的体验成立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613189-6F0B-43D5-8456-936144A3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91465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D0D570-6FF8-4567-A9B9-9749C478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28800"/>
            <a:ext cx="2286000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EDF95-D7AB-4754-B719-54FE3B4E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0574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3BCC27-7317-41D7-B464-90BD0F694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33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01A"/>
                </a:solidFill>
              </a:defRPr>
            </a:pPr>
            <a:r>
              <a:rPr sz="1875" b="1">
                <a:solidFill>
                  <a:srgbClr val="10201A"/>
                </a:solidFill>
              </a:rPr>
              <a:t>现场增强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7491ED-24C6-4BFC-AF6A-FB812542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0990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soundcore Work / 上传音频 / 报告增强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050FF1-81B0-46F2-9ACA-D8D5FACE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6385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201A"/>
                </a:solidFill>
              </a:defRPr>
            </a:pPr>
            <a:r>
              <a:rPr sz="1275" b="0">
                <a:solidFill>
                  <a:srgbClr val="10201A"/>
                </a:solidFill>
              </a:rPr>
              <a:t>把原型推进到真实设备和真实输入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0F5B21-3DE7-46C8-994C-80C3105CC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91465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B7F7A2-79C1-46CA-889C-70431FCC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28800"/>
            <a:ext cx="2286000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DC117F-079A-40E8-8812-E8D00DF1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574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F552FD-554B-4824-ACC5-55A22E57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33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01A"/>
                </a:solidFill>
              </a:defRPr>
            </a:pPr>
            <a:r>
              <a:rPr sz="1875" b="1">
                <a:solidFill>
                  <a:srgbClr val="10201A"/>
                </a:solidFill>
              </a:rPr>
              <a:t>可试用 MVP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3E1CBB-6A9D-490E-87FD-A96753ED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0990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真实录音 + 7 天趋势 + 用户反馈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AEB8EF-88DD-465C-A66A-22890996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201A"/>
                </a:solidFill>
              </a:defRPr>
            </a:pPr>
            <a:r>
              <a:rPr sz="1275" b="0">
                <a:solidFill>
                  <a:srgbClr val="10201A"/>
                </a:solidFill>
              </a:rPr>
              <a:t>验证用户是否愿意每天早晨打开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05EFC1-0849-42D8-AE7B-2BB7A4BF8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1465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A169"/>
          </a:solidFill>
          <a:ln xmlns:a="http://schemas.openxmlformats.org/drawingml/2006/main" w="0">
            <a:solidFill>
              <a:srgbClr val="38A16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B00C6D-A19B-4FB5-B34A-FC3B28A5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828800"/>
            <a:ext cx="2286000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DECEA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DB07E1-EA29-4B14-BE3F-4E62E627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574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A169"/>
                </a:solidFill>
              </a:defRPr>
            </a:pPr>
            <a:r>
              <a:rPr sz="1875" b="1">
                <a:solidFill>
                  <a:srgbClr val="38A169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F8C01B-0DC8-4ECD-A0F0-9E9E6183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533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01A"/>
                </a:solidFill>
              </a:defRPr>
            </a:pPr>
            <a:r>
              <a:rPr sz="1875" b="1">
                <a:solidFill>
                  <a:srgbClr val="10201A"/>
                </a:solidFill>
              </a:rPr>
              <a:t>产品化硬件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CC559B-5119-43DB-A540-10639E98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990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SenseLoop Watch / Band / Pendant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625272-44AA-46B3-8903-302B0152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6385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201A"/>
                </a:solidFill>
              </a:defRPr>
            </a:pPr>
            <a:r>
              <a:rPr sz="1275" b="0">
                <a:solidFill>
                  <a:srgbClr val="10201A"/>
                </a:solidFill>
              </a:rPr>
              <a:t>扩展为 Anker 健康穿戴新品类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D23B41-9381-4249-BD6B-BA2EE276F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38A169"/>
                </a:solidFill>
              </a:defRPr>
            </a:pPr>
            <a:r>
              <a:rPr sz="2025" b="1">
                <a:solidFill>
                  <a:srgbClr val="38A169"/>
                </a:solidFill>
              </a:rPr>
              <a:t>主线始终不变：夜间声音 -&gt; 身体信号理解 -&gt; 晨间行动建议。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8C11B0-FAC0-4882-9953-B3726ADA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736981-612C-445E-B36D-928E043A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058470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66CC93-F832-4F3F-A10F-E3F83756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01A"/>
                </a:solidFill>
              </a:defRPr>
            </a:pPr>
            <a:r>
              <a:rPr sz="2850" b="1">
                <a:solidFill>
                  <a:srgbClr val="10201A"/>
                </a:solidFill>
              </a:rPr>
              <a:t>24 小时现场开发计划很清晰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1AD3C2-D958-44F7-803A-5A0FC9F6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8"/>
                </a:solidFill>
              </a:defRPr>
            </a:pPr>
            <a:r>
              <a:rPr sz="1350" b="0">
                <a:solidFill>
                  <a:srgbClr val="587068"/>
                </a:solidFill>
              </a:rPr>
              <a:t>当前原型稳定可演示，现场时间用于增强真实硬件与真实数据。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4F4680-7CE3-49EE-945A-E94C8B3A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4"/>
          </a:solidFill>
          <a:ln xmlns:a="http://schemas.openxmlformats.org/drawingml/2006/main" w="0">
            <a:solidFill>
              <a:srgbClr val="C9DED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E5788C-F7E3-490E-9F95-48E902F4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33550"/>
            <a:ext cx="68580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99BD60-47DC-4A5F-87CA-03EC46BE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4310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A169"/>
                </a:solidFill>
              </a:defRPr>
            </a:pPr>
            <a:r>
              <a:rPr sz="1800" b="1">
                <a:solidFill>
                  <a:srgbClr val="38A169"/>
                </a:solidFill>
              </a:rPr>
              <a:t>优先增强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2E9981-88C3-4437-BF3D-8EAFB003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431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接入 soundcore Work SDK 或真实录音文件，把声音事件接入日报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4FBE8-F7F9-4843-9FAD-C9E39954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68580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F43A36-7964-4C56-BF5A-3C1C7905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0990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A169"/>
                </a:solidFill>
              </a:defRPr>
            </a:pPr>
            <a:r>
              <a:rPr sz="1800" b="1">
                <a:solidFill>
                  <a:srgbClr val="38A169"/>
                </a:solidFill>
              </a:rPr>
              <a:t>可选增强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D45933-96B7-45D2-B612-4D61B354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099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加入音频上传、图片上传、LLM 文案润色、eufy 非隐私视觉事件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407EBA-04A9-4464-B3B1-0146C332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68580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408975-17C7-4DEB-A829-FFAAD1AA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7670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A169"/>
                </a:solidFill>
              </a:defRPr>
            </a:pPr>
            <a:r>
              <a:rPr sz="1800" b="1">
                <a:solidFill>
                  <a:srgbClr val="38A169"/>
                </a:solidFill>
              </a:rPr>
              <a:t>Fallback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CAEB66-5B48-4D66-9E3E-33633E1F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76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7068"/>
                </a:solidFill>
              </a:defRPr>
            </a:pPr>
            <a:r>
              <a:rPr sz="1500" b="0">
                <a:solidFill>
                  <a:srgbClr val="587068"/>
                </a:solidFill>
              </a:rPr>
              <a:t>无 SDK 用 mock adapter，无 API Key 用本地规则，无网络可本地运行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611C38-3E2B-452F-98BB-2ACDFEF5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14500"/>
            <a:ext cx="2381250" cy="28765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4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1c52235fba44ee"/>
          <a:stretch xmlns:a="http://schemas.openxmlformats.org/drawingml/2006/main"/>
        </p:blipFill>
        <p:spPr>
          <a:xfrm xmlns:a="http://schemas.openxmlformats.org/drawingml/2006/main">
            <a:off x="8620125" y="2038350"/>
            <a:ext cx="1714500" cy="17145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55C081-D2D8-4DB6-AF58-D84B226F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981450"/>
            <a:ext cx="1847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01A"/>
                </a:solidFill>
              </a:defRPr>
            </a:pPr>
            <a:r>
              <a:rPr sz="1650" b="1">
                <a:solidFill>
                  <a:srgbClr val="10201A"/>
                </a:solidFill>
              </a:rPr>
              <a:t>扫码打开 Demo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FF5FA4-6D0E-4D9A-B49F-2C196183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2628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87068"/>
                </a:solidFill>
              </a:defRPr>
            </a:pPr>
            <a:r>
              <a:rPr sz="1125" b="0">
                <a:solidFill>
                  <a:srgbClr val="587068"/>
                </a:solidFill>
              </a:rPr>
              <a:t>https://13-57-166-217.sslip.io/senseloop/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50F6C2-24A8-418B-8DF3-3902C6E6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01A"/>
                </a:solidFill>
              </a:defRPr>
            </a:pPr>
            <a:r>
              <a:rPr sz="1800" b="1">
                <a:solidFill>
                  <a:srgbClr val="10201A"/>
                </a:solidFill>
              </a:rPr>
              <a:t>最终目标：用 Anker 官方硬件验证核心闭环，再演进为 SenseLoop 健康穿戴产品线。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3CB9A3-39B0-469C-B9AF-744BA39F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anker-SenseLoop 观息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C38B14-70FE-4E1C-9232-DE7DF5B7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7068"/>
                </a:solidFill>
              </a:defRPr>
            </a:pPr>
            <a:r>
              <a:rPr sz="975" b="0">
                <a:solidFill>
                  <a:srgbClr val="58706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16098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2026-09-20T10:51:01.6360000Z</dcterms:created>
  <dcterms:modified xsi:type="dcterms:W3CDTF">2026-09-20T10:51:01.6370000Z</dcterms:modified>
</coreProperties>
</file>